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86" r:id="rId11"/>
    <p:sldId id="264" r:id="rId12"/>
    <p:sldId id="265" r:id="rId13"/>
    <p:sldId id="266" r:id="rId14"/>
    <p:sldId id="287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C75C08-A9AC-4A50-829A-F20509E54223}" v="6" dt="2026-03-17T02:48:34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Ta Chi" userId="138bfb5ef5e7e044" providerId="LiveId" clId="{6822D911-0FC7-4041-B743-7CBC92589699}"/>
    <pc:docChg chg="undo custSel addSld delSld modSld">
      <pc:chgData name="Hieu Ta Chi" userId="138bfb5ef5e7e044" providerId="LiveId" clId="{6822D911-0FC7-4041-B743-7CBC92589699}" dt="2026-03-17T02:48:57.971" v="62" actId="47"/>
      <pc:docMkLst>
        <pc:docMk/>
      </pc:docMkLst>
      <pc:sldChg chg="modSp mod">
        <pc:chgData name="Hieu Ta Chi" userId="138bfb5ef5e7e044" providerId="LiveId" clId="{6822D911-0FC7-4041-B743-7CBC92589699}" dt="2026-03-13T06:19:48.206" v="19" actId="20577"/>
        <pc:sldMkLst>
          <pc:docMk/>
          <pc:sldMk cId="0" sldId="256"/>
        </pc:sldMkLst>
        <pc:spChg chg="mod">
          <ac:chgData name="Hieu Ta Chi" userId="138bfb5ef5e7e044" providerId="LiveId" clId="{6822D911-0FC7-4041-B743-7CBC92589699}" dt="2026-03-13T06:19:39.807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ieu Ta Chi" userId="138bfb5ef5e7e044" providerId="LiveId" clId="{6822D911-0FC7-4041-B743-7CBC92589699}" dt="2026-03-13T06:19:43.436" v="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Hieu Ta Chi" userId="138bfb5ef5e7e044" providerId="LiveId" clId="{6822D911-0FC7-4041-B743-7CBC92589699}" dt="2026-03-13T06:19:48.206" v="19" actId="20577"/>
          <ac:spMkLst>
            <pc:docMk/>
            <pc:sldMk cId="0" sldId="256"/>
            <ac:spMk id="4" creationId="{00000000-0000-0000-0000-000000000000}"/>
          </ac:spMkLst>
        </pc:spChg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57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58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59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0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1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2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3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4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5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6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7"/>
        </pc:sldMkLst>
      </pc:sldChg>
      <pc:sldChg chg="addSp delSp modSp mod modNotes">
        <pc:chgData name="Hieu Ta Chi" userId="138bfb5ef5e7e044" providerId="LiveId" clId="{6822D911-0FC7-4041-B743-7CBC92589699}" dt="2026-03-17T02:48:53.274" v="61" actId="403"/>
        <pc:sldMkLst>
          <pc:docMk/>
          <pc:sldMk cId="0" sldId="268"/>
        </pc:sldMkLst>
        <pc:spChg chg="mod ord">
          <ac:chgData name="Hieu Ta Chi" userId="138bfb5ef5e7e044" providerId="LiveId" clId="{6822D911-0FC7-4041-B743-7CBC92589699}" dt="2026-03-17T02:47:28.220" v="36" actId="166"/>
          <ac:spMkLst>
            <pc:docMk/>
            <pc:sldMk cId="0" sldId="268"/>
            <ac:spMk id="2" creationId="{00000000-0000-0000-0000-000000000000}"/>
          </ac:spMkLst>
        </pc:spChg>
        <pc:spChg chg="del">
          <ac:chgData name="Hieu Ta Chi" userId="138bfb5ef5e7e044" providerId="LiveId" clId="{6822D911-0FC7-4041-B743-7CBC92589699}" dt="2026-03-17T02:46:51.924" v="26" actId="478"/>
          <ac:spMkLst>
            <pc:docMk/>
            <pc:sldMk cId="0" sldId="268"/>
            <ac:spMk id="3" creationId="{00000000-0000-0000-0000-000000000000}"/>
          </ac:spMkLst>
        </pc:spChg>
        <pc:spChg chg="mod ord">
          <ac:chgData name="Hieu Ta Chi" userId="138bfb5ef5e7e044" providerId="LiveId" clId="{6822D911-0FC7-4041-B743-7CBC92589699}" dt="2026-03-17T02:48:53.274" v="61" actId="403"/>
          <ac:spMkLst>
            <pc:docMk/>
            <pc:sldMk cId="0" sldId="268"/>
            <ac:spMk id="4" creationId="{00000000-0000-0000-0000-000000000000}"/>
          </ac:spMkLst>
        </pc:spChg>
        <pc:picChg chg="add mod">
          <ac:chgData name="Hieu Ta Chi" userId="138bfb5ef5e7e044" providerId="LiveId" clId="{6822D911-0FC7-4041-B743-7CBC92589699}" dt="2026-03-17T02:48:06.618" v="40" actId="14100"/>
          <ac:picMkLst>
            <pc:docMk/>
            <pc:sldMk cId="0" sldId="268"/>
            <ac:picMk id="5" creationId="{6932B773-40BE-F18C-595A-F594F2022686}"/>
          </ac:picMkLst>
        </pc:picChg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69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0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1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2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3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4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5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6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7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8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79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80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81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82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83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84"/>
        </pc:sldMkLst>
      </pc:sldChg>
      <pc:sldChg chg="modNotes">
        <pc:chgData name="Hieu Ta Chi" userId="138bfb5ef5e7e044" providerId="LiveId" clId="{6822D911-0FC7-4041-B743-7CBC92589699}" dt="2026-03-17T02:01:11.713" v="22"/>
        <pc:sldMkLst>
          <pc:docMk/>
          <pc:sldMk cId="0" sldId="285"/>
        </pc:sldMkLst>
      </pc:sldChg>
      <pc:sldChg chg="add del">
        <pc:chgData name="Hieu Ta Chi" userId="138bfb5ef5e7e044" providerId="LiveId" clId="{6822D911-0FC7-4041-B743-7CBC92589699}" dt="2026-03-17T02:01:11.713" v="21" actId="2696"/>
        <pc:sldMkLst>
          <pc:docMk/>
          <pc:sldMk cId="0" sldId="286"/>
        </pc:sldMkLst>
      </pc:sldChg>
      <pc:sldChg chg="add">
        <pc:chgData name="Hieu Ta Chi" userId="138bfb5ef5e7e044" providerId="LiveId" clId="{6822D911-0FC7-4041-B743-7CBC92589699}" dt="2026-03-17T02:01:33.545" v="23"/>
        <pc:sldMkLst>
          <pc:docMk/>
          <pc:sldMk cId="1602599624" sldId="286"/>
        </pc:sldMkLst>
      </pc:sldChg>
      <pc:sldChg chg="add">
        <pc:chgData name="Hieu Ta Chi" userId="138bfb5ef5e7e044" providerId="LiveId" clId="{6822D911-0FC7-4041-B743-7CBC92589699}" dt="2026-03-17T02:02:32.101" v="24"/>
        <pc:sldMkLst>
          <pc:docMk/>
          <pc:sldMk cId="0" sldId="287"/>
        </pc:sldMkLst>
      </pc:sldChg>
      <pc:sldChg chg="add del">
        <pc:chgData name="Hieu Ta Chi" userId="138bfb5ef5e7e044" providerId="LiveId" clId="{6822D911-0FC7-4041-B743-7CBC92589699}" dt="2026-03-17T02:48:57.971" v="62" actId="47"/>
        <pc:sldMkLst>
          <pc:docMk/>
          <pc:sldMk cId="0" sldId="288"/>
        </pc:sldMkLst>
      </pc:sldChg>
      <pc:sldMasterChg chg="delSldLayout">
        <pc:chgData name="Hieu Ta Chi" userId="138bfb5ef5e7e044" providerId="LiveId" clId="{6822D911-0FC7-4041-B743-7CBC92589699}" dt="2026-03-17T02:01:11.713" v="21" actId="2696"/>
        <pc:sldMasterMkLst>
          <pc:docMk/>
          <pc:sldMasterMk cId="0" sldId="2147483660"/>
        </pc:sldMasterMkLst>
        <pc:sldLayoutChg chg="del">
          <pc:chgData name="Hieu Ta Chi" userId="138bfb5ef5e7e044" providerId="LiveId" clId="{6822D911-0FC7-4041-B743-7CBC92589699}" dt="2026-03-17T02:01:11.713" v="21" actId="2696"/>
          <pc:sldLayoutMkLst>
            <pc:docMk/>
            <pc:sldMasterMk cId="0" sldId="2147483660"/>
            <pc:sldLayoutMk cId="2487920117" sldId="215748370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Đặc</a:t>
            </a:r>
            <a:r>
              <a:rPr lang="en-US" sz="1400" b="1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1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điểm</a:t>
            </a:r>
            <a:r>
              <a:rPr lang="en-US" sz="1400" b="1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1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của</a:t>
            </a:r>
            <a:r>
              <a:rPr lang="en-US" sz="1400" b="1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JSX:</a:t>
            </a:r>
            <a:endParaRPr lang="en-US" sz="1000" dirty="0">
              <a:solidFill>
                <a:schemeClr val="accent2">
                  <a:lumMod val="75000"/>
                </a:schemeClr>
              </a:solidFill>
            </a:endParaRP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Cho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phép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viết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cấu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trúc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UI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ngay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trong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JavaScript.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Declarative: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Mô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tả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Cái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gì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"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thay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vì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"Làm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thế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nào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".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Ngăn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chặn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tấn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công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XSS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mặc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định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Power: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Tận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dụng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mọi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sức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mạnh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của</a:t>
            </a:r>
            <a:r>
              <a:rPr lang="en-US" sz="14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JS (map, filter, conditional).</a:t>
            </a:r>
          </a:p>
          <a:p>
            <a:pPr algn="l"/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5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6675" y="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Framework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4775" y="571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Từ</a:t>
            </a:r>
            <a:r>
              <a:rPr lang="en-US" sz="24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SPA </a:t>
            </a: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đến</a:t>
            </a:r>
            <a:r>
              <a:rPr lang="en-US" sz="24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Hooks </a:t>
            </a: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nền</a:t>
            </a:r>
            <a:r>
              <a:rPr lang="en-US" sz="24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tảng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609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HieuTC</a:t>
            </a:r>
            <a:r>
              <a:rPr lang="en-US" sz="1600" b="0" i="0" u="none" strike="noStrik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- TLU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Mục tiêu học tập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1. Kiến trúc SPA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Hiểu cơ chế hoạt động của ứng dụng đơn trang và Virtual DOM.</a:t>
            </a:r>
          </a:p>
        </p:txBody>
      </p:sp>
      <p:sp>
        <p:nvSpPr>
          <p:cNvPr id="4" name="AutoShape 4"/>
          <p:cNvSpPr/>
          <p:nvPr/>
        </p:nvSpPr>
        <p:spPr>
          <a:xfrm>
            <a:off x="43815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2. JSX &amp; Components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Nắm vững cú pháp JSX và tư duy xây dựng UI theo Component.</a:t>
            </a:r>
          </a:p>
        </p:txBody>
      </p:sp>
      <p:sp>
        <p:nvSpPr>
          <p:cNvPr id="5" name="AutoShape 5"/>
          <p:cNvSpPr/>
          <p:nvPr/>
        </p:nvSpPr>
        <p:spPr>
          <a:xfrm>
            <a:off x="82550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3. Props &amp; State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Quản lý dữ liệu luân chuyển và trạng thái nội bộ ứng dụng.</a:t>
            </a:r>
          </a:p>
        </p:txBody>
      </p:sp>
      <p:sp>
        <p:nvSpPr>
          <p:cNvPr id="6" name="AutoShape 6"/>
          <p:cNvSpPr/>
          <p:nvPr/>
        </p:nvSpPr>
        <p:spPr>
          <a:xfrm>
            <a:off x="508000" y="393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Hooks nền tảng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Làm chủ useState và useEffect để xử lý logic component.</a:t>
            </a:r>
          </a:p>
        </p:txBody>
      </p:sp>
      <p:sp>
        <p:nvSpPr>
          <p:cNvPr id="7" name="AutoShape 7"/>
          <p:cNvSpPr/>
          <p:nvPr/>
        </p:nvSpPr>
        <p:spPr>
          <a:xfrm>
            <a:off x="4381500" y="393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5. Lists &amp; Forms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Render danh sách và xử lý form dữ liệu an toàn, hiệu quả.</a:t>
            </a:r>
          </a:p>
        </p:txBody>
      </p:sp>
      <p:sp>
        <p:nvSpPr>
          <p:cNvPr id="8" name="AutoShape 8"/>
          <p:cNvSpPr/>
          <p:nvPr/>
        </p:nvSpPr>
        <p:spPr>
          <a:xfrm>
            <a:off x="8255000" y="393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6. Routing &amp; Vite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Cấu trúc dự án chuyên nghiệp và điều hướng phía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Nội dung chính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558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A. SPA &amp; Virtual DOM</a:t>
            </a:r>
            <a:endParaRPr lang="en-US" sz="1100"/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B. Component Mindset &amp; JSX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C. Props &amp; State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D. Hooks: useState &amp; useEffect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E. Lists &amp; Forms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F. Routing &amp; Workflow với Vite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G. Mini Quiz &amp; Tổng kết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0" y="1905000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MPA: Cách cũ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508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Cơ chế Multiple Page App: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Mỗi lần click link -&gt; Request HTML mới.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Server render toàn bộ trang web.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Trình duyệt reload -&gt; Màn hình trắng xóa (Flash).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Hạn chế: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Chậm, tốn băng thông.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Trải nghiệm người dùng bị ngắt quãng.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6442" y="1524000"/>
            <a:ext cx="6826250" cy="381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2790" r="12790"/>
          <a:stretch>
            <a:fillRect/>
          </a:stretch>
        </p:blipFill>
        <p:spPr>
          <a:xfrm>
            <a:off x="508000" y="1524000"/>
            <a:ext cx="5080000" cy="381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604000" y="762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SPA: Cách hiện đại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0" y="1778000"/>
            <a:ext cx="508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Cơ chế Single Page App: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Tải 1 file index.html duy nhất.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JS quản lý việc đổi nội dung bên trong.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Không reload trang -&gt; Không chớp tắt.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Ưu điểm: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Tốc độ phản hồi cực nhanh.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Trải nghiệm mượt như ứng dụng Desktop/Mobile.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Luồng hoạt động của SPA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2286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1. User click link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2793444" y="304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AutoShape 5"/>
          <p:cNvSpPr/>
          <p:nvPr/>
        </p:nvSpPr>
        <p:spPr>
          <a:xfrm>
            <a:off x="3302000" y="2286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2. JS intercept click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5587444" y="304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" name="AutoShape 7"/>
          <p:cNvSpPr/>
          <p:nvPr/>
        </p:nvSpPr>
        <p:spPr>
          <a:xfrm>
            <a:off x="6096000" y="2286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3. Fetch data (API)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25">
            <a:off x="8381444" y="304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AutoShape 9"/>
          <p:cNvSpPr/>
          <p:nvPr/>
        </p:nvSpPr>
        <p:spPr>
          <a:xfrm>
            <a:off x="8890000" y="2286000"/>
            <a:ext cx="2794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Update UI phần đổi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(Không reload trang)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Real DOM: Bài toán hiệu năng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1524000"/>
            <a:ext cx="1016000" cy="1016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778000" y="1524000"/>
            <a:ext cx="990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Vấn đề của việc cập nhật DOM trực tiếp:</a:t>
            </a:r>
            <a:endParaRPr lang="en-US" sz="1100"/>
          </a:p>
          <a:p>
            <a:pPr marL="254000" indent="-2540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20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Chậm: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Thao tác với Real DOM là cực kỳ tốn kém so với JS.</a:t>
            </a:r>
          </a:p>
          <a:p>
            <a:pPr marL="254000" indent="-2540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20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Reflow &amp; Repaint: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Mỗi thay đổi nhỏ có thể khiến trình duyệt phải tính toán lại toàn bộ layout.</a:t>
            </a:r>
          </a:p>
          <a:p>
            <a:pPr marL="254000" indent="-2540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20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Khó tối ưu: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Rất khó để quản lý việc cập nhật tối thiểu nếu làm thủ công.</a:t>
            </a:r>
          </a:p>
          <a:p>
            <a:pPr indent="0" algn="l">
              <a:lnSpc>
                <a:spcPct val="125000"/>
              </a:lnSpc>
            </a:pPr>
            <a:r>
              <a:rPr lang="en-US" sz="20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"Giống như việc sửa một viên gạch nhưng phải xây lại cả bức tường."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Virtual DOM: Giải pháp từ React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558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Memory First: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Tạo một bản sao "ảo" của DOM trong bộ nhớ.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Diffing: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Khi state đổi, React so sánh Virtual DOM cũ và mới.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Patching: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Chỉ cập nhật những phần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thực sự thay đổi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lên Real DOM.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7604" b="27604"/>
          <a:stretch>
            <a:fillRect/>
          </a:stretch>
        </p:blipFill>
        <p:spPr>
          <a:xfrm>
            <a:off x="508000" y="3810000"/>
            <a:ext cx="11176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9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Lợi ích của Virtual DOM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1. Hiệu năng vượt trội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Giảm thiểu tối đa số lần render của trình duyệt.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2. Tư duy Declarative UI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Bạn chỉ cần mô tả giao diện, React tự lo việc cập nhật.</a:t>
            </a:r>
          </a:p>
        </p:txBody>
      </p:sp>
      <p:sp>
        <p:nvSpPr>
          <p:cNvPr id="5" name="AutoShape 5"/>
          <p:cNvSpPr/>
          <p:nvPr/>
        </p:nvSpPr>
        <p:spPr>
          <a:xfrm>
            <a:off x="508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3. Dễ dàng Testing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Có thể test logic render mà không cần môi trường trình duyệt.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Kiến trúc Component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Module hóa UI giúp quản lý code sạch và dễ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SPA &amp; Virtual DOM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762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1. MPA và SPA khác nhau ở điểm cốt lõi nào?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2. Virtual DOM nằm ở đâu: Memory hay Browser?</a:t>
            </a:r>
          </a:p>
          <a:p>
            <a:pPr indent="0" algn="l">
              <a:lnSpc>
                <a:spcPct val="150000"/>
              </a:lnSpc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3. React dùng thuật toán gì để tìm ra điểm thay đổi?</a:t>
            </a:r>
          </a:p>
          <a:p>
            <a:pPr indent="0" algn="l">
              <a:lnSpc>
                <a:spcPct val="150000"/>
              </a:lnSpc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4. SPA điều hướng không reload nhờ API nào của JS?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0" y="1905000"/>
            <a:ext cx="254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Kiến trúc Component-based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 những mảnh ghép UI độc lập, có thể tái sử dụng để xây dựng ứng dụng phức tạp.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794000"/>
            <a:ext cx="3556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381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Tái sử dụng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Viết một lần, dùng ở nhiều nơi (Button, Card, Input).</a:t>
            </a:r>
          </a:p>
        </p:txBody>
      </p:sp>
      <p:sp>
        <p:nvSpPr>
          <p:cNvPr id="5" name="AutoShape 5"/>
          <p:cNvSpPr/>
          <p:nvPr/>
        </p:nvSpPr>
        <p:spPr>
          <a:xfrm>
            <a:off x="4318000" y="2794000"/>
            <a:ext cx="3556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381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Độc lập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Mỗi component tự quản lý UI và logic riêng của nó.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8000" y="2794000"/>
            <a:ext cx="3556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381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Ghép nối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Kết hợp các component nhỏ để tạo thành trang web hoàn chỉnh.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Cây Component (Component Tree)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646" r="1444"/>
          <a:stretch>
            <a:fillRect/>
          </a:stretch>
        </p:blipFill>
        <p:spPr>
          <a:xfrm>
            <a:off x="-114070" y="1524000"/>
            <a:ext cx="7774506" cy="45720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381000" dist="190500" dir="2700000" algn="tl" rotWithShape="0">
              <a:srgbClr val="000000">
                <a:alpha val="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366000" y="1524000"/>
            <a:ext cx="4318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Phân rã UI (Atomic Design):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0B5FFF"/>
              </a:buClr>
              <a:buChar char="•"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App Root: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Gốc của ứng dụng.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Layouts: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Header, Sidebar, Footer.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Views: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HomePage, ProductList.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Atoms: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Button, Avatar, Label.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Quy tắc: Component cha quản lý Component con.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2B773-40BE-F18C-595A-F594F2022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" y="768503"/>
            <a:ext cx="10916745" cy="6089497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508000" y="43406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JSX: JavaScript XML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8334703" y="2343806"/>
            <a:ext cx="2827284" cy="40061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Đặc</a:t>
            </a:r>
            <a:r>
              <a:rPr lang="en-US" sz="2000" b="1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điểm</a:t>
            </a:r>
            <a:r>
              <a:rPr lang="en-US" sz="2000" b="1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của</a:t>
            </a:r>
            <a:r>
              <a:rPr lang="en-US" sz="2000" b="1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JSX: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Cho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phép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viết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cấu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trúc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UI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ngay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trong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JavaScript.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Declarative: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Mô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tả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Cái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gì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"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thay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vì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"Làm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thế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nào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".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toàn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Mạnh </a:t>
            </a:r>
            <a:r>
              <a:rPr lang="en-US" sz="2000" b="0" i="0" u="none" strike="noStrike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mẽ</a:t>
            </a:r>
            <a:r>
              <a:rPr lang="en-US" sz="2000" b="0" i="0" u="none" strike="noStrike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Quy tắc cú pháp JSX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Single Root Element: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Phải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bọc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trong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1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thẻ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cha (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hoặc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&lt;&gt;...&lt;/&gt;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en-US" sz="1100" dirty="0"/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className</a:t>
            </a: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thay</a:t>
            </a: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cho</a:t>
            </a: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class: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Do class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là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từ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khóa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dành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riêng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trong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JS.</a:t>
            </a:r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camelCase Event: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onClick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0" i="0" u="none" strike="noStrike" dirty="0" err="1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onChange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không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phải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onclick).</a:t>
            </a:r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Self-closing Tags: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Mọi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thẻ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đơn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phải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có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dấu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đóng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/&gt;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ví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dụ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: &lt;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img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/&gt;, &lt;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br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/&gt;).</a:t>
            </a:r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Ngoặc</a:t>
            </a: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nhọn</a:t>
            </a:r>
            <a:r>
              <a:rPr lang="en-US" sz="1800" b="1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{ }: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để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chèn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biến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hoặc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biểu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thức</a:t>
            </a:r>
            <a:r>
              <a:rPr lang="en-US" sz="18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JavaScript.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Component &amp; JSX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Q1: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Component trong React thực chất là gì?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Q2: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Tại sao JSX cần 1 phần tử gốc duy nhất?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Q3: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Làm thế nào để chèn 1 biến JS vào trong thẻ JSX?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Q4: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Tại sao dùng </a:t>
            </a: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className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thay vì </a:t>
            </a: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Props: Truyền dữ liệu Cha → Con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270000" y="1905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Parent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71352">
            <a:off x="1778000" y="3676041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AutoShape 5"/>
          <p:cNvSpPr/>
          <p:nvPr/>
        </p:nvSpPr>
        <p:spPr>
          <a:xfrm>
            <a:off x="2667000" y="3429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Props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4445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Child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0" y="1905000"/>
            <a:ext cx="6096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Properties (Props):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 tham số truyền vào component.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Read-Only: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Component con không được sửa props của mình.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Dữ liệu 1 chiều: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Luôn chảy từ trên xuống dưới (One-way data flow).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Destructuring: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Cách viết hiện đại giúp code sạch hơn.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Example: &lt;Welcome name="React" /&gt;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Vấn đề: Props Drilling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3810000" cy="482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 (User Data)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UserMenu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Avatar (Sử dụng user)</a:t>
            </a:r>
          </a:p>
        </p:txBody>
      </p:sp>
      <p:sp>
        <p:nvSpPr>
          <p:cNvPr id="5" name="AutoShape 5"/>
          <p:cNvSpPr/>
          <p:nvPr/>
        </p:nvSpPr>
        <p:spPr>
          <a:xfrm>
            <a:off x="4826000" y="1524000"/>
            <a:ext cx="685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Định nghĩa: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Việc truyền props qua các component trung gian không thực sự cần dữ liệu đó.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Hệ quả: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Code rườm rà, khó theo dõi.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Dễ gây lỗi khi refactor code.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Component trung gian bị phụ thuộc không cần thiết.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Giải pháp: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Component Composition hoặc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Context API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/ Redux.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State: Trạng thái nội bộ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533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State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 dữ liệu có thể thay đổi theo thời gian hoặc tương tác của người dùng. Khi state đổi, React </a:t>
            </a:r>
            <a:r>
              <a:rPr lang="en-US" sz="20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tự động re-render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UI.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5568" b="25568"/>
          <a:stretch>
            <a:fillRect/>
          </a:stretch>
        </p:blipFill>
        <p:spPr>
          <a:xfrm>
            <a:off x="508000" y="3556000"/>
            <a:ext cx="11176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0" y="1524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Tư duy React: UI = f(state)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Giao diện chỉ là kết quả của hàm nhận đầu vào là dữ liệu (State &amp; Props).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Quy tắc: Không Mutate State!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❌ SAI (Direct Mutation):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user.age = 25;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setUser(user);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1" u="none" strike="noStrike">
                <a:solidFill>
                  <a:srgbClr val="EF44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React sẽ không nhận ra sự thay đổi vì cùng vùng nhớ (reference).</a:t>
            </a:r>
          </a:p>
        </p:txBody>
      </p:sp>
      <p:sp>
        <p:nvSpPr>
          <p:cNvPr id="4" name="AutoShape 4"/>
          <p:cNvSpPr/>
          <p:nvPr/>
        </p:nvSpPr>
        <p:spPr>
          <a:xfrm>
            <a:off x="6223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✅ ĐÚNG (Immutable Update):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setUser({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...user,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age: 25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1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Tạo một Object mới -&gt; React trigger re-render ngay lập tức.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Props vs State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1. Dữ liệu nào là Read-only (chỉ đọc) đối với Component con?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2. Muốn component tự thay đổi giao diện theo tương tác, ta dùng gì?</a:t>
            </a:r>
          </a:p>
          <a:p>
            <a:pPr indent="0" algn="l">
              <a:lnSpc>
                <a:spcPct val="150000"/>
              </a:lnSpc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3. </a:t>
            </a:r>
            <a:r>
              <a:rPr lang="en-US" sz="20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"Props drilling"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gây hại như thế nào cho dự án?</a:t>
            </a:r>
          </a:p>
          <a:p>
            <a:pPr indent="0" algn="l">
              <a:lnSpc>
                <a:spcPct val="150000"/>
              </a:lnSpc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4. React dựa vào tham chiếu (reference) hay giá trị (value) để re-render object?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Hooks là gì?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524000" cy="1524000"/>
          </a:xfrm>
          <a:prstGeom prst="roundRect">
            <a:avLst>
              <a:gd name="adj" fmla="val 125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1714500"/>
            <a:ext cx="1143000" cy="1143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286000" y="1524000"/>
            <a:ext cx="939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Hooks cho phép sử dụng state và các tính năng khác của React mà không cần viết class.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2 Quy tắc vàng (Rules of Hooks):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Chỉ gọi ở cấp cao nhất (Top Level):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Không gọi hooks bên trong vòng lặp, điều kiện (if) hay hàm lồng nhau.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Chỉ gọi từ Function Component: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Hoặc từ các Custom Hooks khác.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Tiền tố của hooks luôn bắt đầu bằng chữ "use" (ví dụ: useState).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Chu kỳ useState: Render -&gt; Re-render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21496" b="21496"/>
          <a:stretch>
            <a:fillRect/>
          </a:stretch>
        </p:blipFill>
        <p:spPr>
          <a:xfrm>
            <a:off x="508000" y="1651000"/>
            <a:ext cx="11176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08000" y="5461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Hành động (Event) →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setX()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→ React so sánh VDOM → </a:t>
            </a:r>
            <a:r>
              <a:rPr lang="en-US" sz="1800" b="1" i="0" u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Render UI mới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useEffect: Xử lý Side Effects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7686" r="17686"/>
          <a:stretch>
            <a:fillRect/>
          </a:stretch>
        </p:blipFill>
        <p:spPr>
          <a:xfrm>
            <a:off x="508000" y="1524000"/>
            <a:ext cx="5588000" cy="4826000"/>
          </a:xfrm>
          <a:prstGeom prst="roundRect">
            <a:avLst>
              <a:gd name="adj" fmla="val 31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604000" y="1524000"/>
            <a:ext cx="508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useEffect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giúp bạn đồng bộ component với các hệ thống bên ngoài.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Các trường hợp sử dụng: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Gọi API lấy dữ liệu.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Thiết lập Subscription (Event Listener).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Tương tác với DOM trực tiếp.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Set/Clear Timer (setInterval, setTimeout).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Dependency array ([ ]) quyết định khi nào effect chạy lại.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Cleanup: Tránh Memory Leak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Tại sao cần Cleanup?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Khi component bị </a:t>
            </a:r>
            <a:r>
              <a:rPr lang="en-US" sz="16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unmount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(biến mất), các tiến trình ngầm (timer, event listener) vẫn có thể đang chạy.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-&gt; Gây lãng phí tài nguyên và lỗi ứng dụng.</a:t>
            </a:r>
          </a:p>
        </p:txBody>
      </p:sp>
      <p:sp>
        <p:nvSpPr>
          <p:cNvPr id="4" name="AutoShape 4"/>
          <p:cNvSpPr/>
          <p:nvPr/>
        </p:nvSpPr>
        <p:spPr>
          <a:xfrm>
            <a:off x="6223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Cách thực hiện: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useEffect(() =&gt; {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// ... logic ...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return () =&gt; {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-US" sz="1600" b="0" i="0" u="none" strike="noStrike">
                <a:solidFill>
                  <a:srgbClr val="0B5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Dọn dẹp ở đây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};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}, []);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React Hooks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Q1: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Hooks có thể gọi được trong class component không?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Q2: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Mảng dependency rỗng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[ ]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có nghĩa là gì?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Q3: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Hàm cleanup chạy vào thời điểm nào?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Q4: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Tại sao không được gọi Hooks trong câu lệnh rẽ nhánh </a:t>
            </a: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if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Conditional Rendering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1. if statement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khi có logic phức tạp hoặc trả về toàn bộ slide khác.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2. Ternary (? :)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trong JSX để chọn giữa 2 lựa chọn (Ví dụ: Login/Logout).</a:t>
            </a:r>
          </a:p>
        </p:txBody>
      </p:sp>
      <p:sp>
        <p:nvSpPr>
          <p:cNvPr id="5" name="AutoShape 5"/>
          <p:cNvSpPr/>
          <p:nvPr/>
        </p:nvSpPr>
        <p:spPr>
          <a:xfrm>
            <a:off x="508000" y="4064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3. Logical &amp;&amp;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khi muốn hiện cái gì đó hoặc không hiện gì cả.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4064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Multiple Condition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biến phụ để lưu JSX trước khi return.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Lists &amp; Keys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Sử dụng phương thức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.map()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để lặp mảng và render ra UI.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3048000"/>
            <a:ext cx="5334000" cy="3048000"/>
          </a:xfrm>
          <a:prstGeom prst="roundRect">
            <a:avLst>
              <a:gd name="adj" fmla="val 5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Tại sao cần Key?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Giúp React định danh phần tử nào đã đổi, thêm, hoặc xóa.</a:t>
            </a:r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Tối ưu hiệu năng Virtual DOM (diffing).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0" y="3048000"/>
            <a:ext cx="5334000" cy="3048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Lưu ý về Key: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Phải </a:t>
            </a: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Duy nhất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trong danh sách đó.</a:t>
            </a:r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Phải </a:t>
            </a: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Ổn định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(Tránh dùng </a:t>
            </a:r>
            <a:r>
              <a:rPr lang="en-US" sz="16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Math.random()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</a:p>
          <a:p>
            <a:pPr marL="203200" indent="-2032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16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Hạn chế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dùng Index mảng nếu danh sách có thể thay đổi thứ tự.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Forms: Controlled Components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Trong React, cách tốt nhất để xử lý form là để </a:t>
            </a:r>
            <a:r>
              <a:rPr lang="en-US" sz="20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State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nắm giữ giá trị của input.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3048000"/>
            <a:ext cx="3810000" cy="3048000"/>
          </a:xfrm>
          <a:prstGeom prst="roundRect">
            <a:avLst>
              <a:gd name="adj" fmla="val 41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React State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(Single Source of Truth)</a:t>
            </a:r>
          </a:p>
        </p:txBody>
      </p:sp>
      <p:cxnSp>
        <p:nvCxnSpPr>
          <p:cNvPr id="5" name="Connector 5"/>
          <p:cNvCxnSpPr/>
          <p:nvPr/>
        </p:nvCxnSpPr>
        <p:spPr>
          <a:xfrm rot="-34376">
            <a:off x="4317397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" name="AutoShape 6"/>
          <p:cNvSpPr/>
          <p:nvPr/>
        </p:nvSpPr>
        <p:spPr>
          <a:xfrm>
            <a:off x="4445000" y="3810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10765623">
            <a:off x="4318603" y="494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" name="AutoShape 8"/>
          <p:cNvSpPr/>
          <p:nvPr/>
        </p:nvSpPr>
        <p:spPr>
          <a:xfrm>
            <a:off x="4445000" y="5016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onChange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3048000"/>
            <a:ext cx="3810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Input Element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(DOM UI)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652000" y="3048000"/>
            <a:ext cx="203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Lợi ích: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- Dễ validate.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- Dễ filter input.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- Pre-fill dữ liệu.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Routing &amp; Workflow với Vite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7686" r="17686"/>
          <a:stretch>
            <a:fillRect/>
          </a:stretch>
        </p:blipFill>
        <p:spPr>
          <a:xfrm>
            <a:off x="508000" y="1524000"/>
            <a:ext cx="5588000" cy="4826000"/>
          </a:xfrm>
          <a:prstGeom prst="roundRect">
            <a:avLst>
              <a:gd name="adj" fmla="val 31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604000" y="1524000"/>
            <a:ext cx="508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Vite: Tiêu chuẩn mới (2025)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Khởi động dev server cực nhanh.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Hot Module Replacement (HMR) tức thì.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Client-side Routing: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Sử dụng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Router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Điều hướng mượt mà không tải lại trang.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Cấu trúc URL thân thiện (SEO).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Cảm ơn các bạn!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40000" y="31750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38100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Key Takeaways: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1. SPA mindset + Component hóa UI.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2. JSX/Props/State là nền móng của React.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3. Hooks quản lý State và Side Effects hiệu quả.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Q&amp;A - Hẹn gặp lại trong buổi học tới!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2027</Words>
  <Application>Microsoft Office PowerPoint</Application>
  <PresentationFormat>Widescreen</PresentationFormat>
  <Paragraphs>288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Inter</vt:lpstr>
      <vt:lpstr>Source Code Pro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 Chi Hieu</cp:lastModifiedBy>
  <cp:revision>1</cp:revision>
  <dcterms:modified xsi:type="dcterms:W3CDTF">2026-03-17T02:49:15Z</dcterms:modified>
</cp:coreProperties>
</file>