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
  </p:notesMasterIdLst>
  <p:sldIdLst>
    <p:sldId id="256" r:id="rId2"/>
    <p:sldId id="257" r:id="rId3"/>
    <p:sldId id="258" r:id="rId4"/>
    <p:sldId id="260" r:id="rId5"/>
    <p:sldId id="261" r:id="rId6"/>
    <p:sldId id="262" r:id="rId7"/>
  </p:sldIdLst>
  <p:sldSz cx="12192000" cy="6858000"/>
  <p:notesSz cx="6858000" cy="9144000"/>
  <p:embeddedFontLst>
    <p:embeddedFont>
      <p:font typeface="JetBrains Mono" panose="020B0604020202020204" charset="0"/>
      <p:regular r:id="rId9"/>
      <p:bold r:id="rId10"/>
      <p:italic r:id="rId11"/>
      <p:boldItalic r:id="rId12"/>
    </p:embeddedFont>
    <p:embeddedFont>
      <p:font typeface="Space Grotesk" panose="020B0604020202020204" charset="0"/>
      <p:regular r:id="rId13"/>
      <p:bold r:id="rId14"/>
    </p:embeddedFont>
    <p:embeddedFont>
      <p:font typeface="Urbanist" panose="020B060402020202020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48" y="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23" Type="http://schemas.microsoft.com/office/2016/11/relationships/changesInfo" Target="changesInfos/changesInfo1.xml"/><Relationship Id="rId10" Type="http://schemas.openxmlformats.org/officeDocument/2006/relationships/font" Target="fonts/font2.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eu Ta Chi" userId="138bfb5ef5e7e044" providerId="LiveId" clId="{6822D911-0FC7-4041-B743-7CBC92589699}"/>
    <pc:docChg chg="delSld modSld">
      <pc:chgData name="Hieu Ta Chi" userId="138bfb5ef5e7e044" providerId="LiveId" clId="{6822D911-0FC7-4041-B743-7CBC92589699}" dt="2026-05-11T06:09:14.289" v="33" actId="47"/>
      <pc:docMkLst>
        <pc:docMk/>
      </pc:docMkLst>
      <pc:sldChg chg="modSp mod">
        <pc:chgData name="Hieu Ta Chi" userId="138bfb5ef5e7e044" providerId="LiveId" clId="{6822D911-0FC7-4041-B743-7CBC92589699}" dt="2026-05-11T06:09:11.981" v="32" actId="1076"/>
        <pc:sldMkLst>
          <pc:docMk/>
          <pc:sldMk cId="0" sldId="258"/>
        </pc:sldMkLst>
        <pc:picChg chg="mod">
          <ac:chgData name="Hieu Ta Chi" userId="138bfb5ef5e7e044" providerId="LiveId" clId="{6822D911-0FC7-4041-B743-7CBC92589699}" dt="2026-05-11T06:09:00.850" v="29" actId="1038"/>
          <ac:picMkLst>
            <pc:docMk/>
            <pc:sldMk cId="0" sldId="258"/>
            <ac:picMk id="117" creationId="{00000000-0000-0000-0000-000000000000}"/>
          </ac:picMkLst>
        </pc:picChg>
        <pc:picChg chg="mod">
          <ac:chgData name="Hieu Ta Chi" userId="138bfb5ef5e7e044" providerId="LiveId" clId="{6822D911-0FC7-4041-B743-7CBC92589699}" dt="2026-05-11T06:09:00.850" v="29" actId="1038"/>
          <ac:picMkLst>
            <pc:docMk/>
            <pc:sldMk cId="0" sldId="258"/>
            <ac:picMk id="118" creationId="{00000000-0000-0000-0000-000000000000}"/>
          </ac:picMkLst>
        </pc:picChg>
        <pc:picChg chg="mod">
          <ac:chgData name="Hieu Ta Chi" userId="138bfb5ef5e7e044" providerId="LiveId" clId="{6822D911-0FC7-4041-B743-7CBC92589699}" dt="2026-05-11T06:09:11.981" v="32" actId="1076"/>
          <ac:picMkLst>
            <pc:docMk/>
            <pc:sldMk cId="0" sldId="258"/>
            <ac:picMk id="119" creationId="{00000000-0000-0000-0000-000000000000}"/>
          </ac:picMkLst>
        </pc:picChg>
        <pc:picChg chg="mod">
          <ac:chgData name="Hieu Ta Chi" userId="138bfb5ef5e7e044" providerId="LiveId" clId="{6822D911-0FC7-4041-B743-7CBC92589699}" dt="2026-05-11T06:09:09.954" v="31" actId="1076"/>
          <ac:picMkLst>
            <pc:docMk/>
            <pc:sldMk cId="0" sldId="258"/>
            <ac:picMk id="125" creationId="{00000000-0000-0000-0000-000000000000}"/>
          </ac:picMkLst>
        </pc:picChg>
        <pc:picChg chg="mod">
          <ac:chgData name="Hieu Ta Chi" userId="138bfb5ef5e7e044" providerId="LiveId" clId="{6822D911-0FC7-4041-B743-7CBC92589699}" dt="2026-05-11T06:08:55.027" v="14" actId="1038"/>
          <ac:picMkLst>
            <pc:docMk/>
            <pc:sldMk cId="0" sldId="258"/>
            <ac:picMk id="126" creationId="{00000000-0000-0000-0000-000000000000}"/>
          </ac:picMkLst>
        </pc:picChg>
        <pc:picChg chg="mod">
          <ac:chgData name="Hieu Ta Chi" userId="138bfb5ef5e7e044" providerId="LiveId" clId="{6822D911-0FC7-4041-B743-7CBC92589699}" dt="2026-05-11T06:09:06.925" v="30" actId="1076"/>
          <ac:picMkLst>
            <pc:docMk/>
            <pc:sldMk cId="0" sldId="258"/>
            <ac:picMk id="127" creationId="{00000000-0000-0000-0000-000000000000}"/>
          </ac:picMkLst>
        </pc:picChg>
      </pc:sldChg>
      <pc:sldChg chg="del">
        <pc:chgData name="Hieu Ta Chi" userId="138bfb5ef5e7e044" providerId="LiveId" clId="{6822D911-0FC7-4041-B743-7CBC92589699}" dt="2026-05-11T06:09:14.289" v="33" actId="47"/>
        <pc:sldMkLst>
          <pc:docMk/>
          <pc:sldMk cId="0" sldId="2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3.xml"/><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81025" y="2960637"/>
            <a:ext cx="11029950" cy="733425"/>
          </a:xfrm>
          <a:prstGeom prst="rect">
            <a:avLst/>
          </a:prstGeom>
          <a:noFill/>
          <a:ln>
            <a:noFill/>
          </a:ln>
        </p:spPr>
      </p:pic>
      <p:sp>
        <p:nvSpPr>
          <p:cNvPr id="86" name="Google Shape;86;p13"/>
          <p:cNvSpPr txBox="1"/>
          <p:nvPr/>
        </p:nvSpPr>
        <p:spPr>
          <a:xfrm>
            <a:off x="581025" y="1827162"/>
            <a:ext cx="11029950" cy="942975"/>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750" b="0" i="0" u="none" strike="noStrike" cap="none">
                <a:solidFill>
                  <a:srgbClr val="F8FAFC"/>
                </a:solidFill>
                <a:latin typeface="Space Grotesk"/>
                <a:ea typeface="Space Grotesk"/>
                <a:cs typeface="Space Grotesk"/>
                <a:sym typeface="Space Grotesk"/>
              </a:rPr>
              <a:t>BOOTSTRAP 5</a:t>
            </a:r>
            <a:endParaRPr/>
          </a:p>
        </p:txBody>
      </p:sp>
      <p:sp>
        <p:nvSpPr>
          <p:cNvPr id="87" name="Google Shape;87;p13"/>
          <p:cNvSpPr txBox="1"/>
          <p:nvPr/>
        </p:nvSpPr>
        <p:spPr>
          <a:xfrm>
            <a:off x="581025" y="3979812"/>
            <a:ext cx="11029950"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94A3B8"/>
                </a:solidFill>
                <a:latin typeface="Urbanist"/>
                <a:ea typeface="Urbanist"/>
                <a:cs typeface="Urbanist"/>
                <a:sym typeface="Urbanist"/>
              </a:rPr>
              <a:t>Tăng Tốc Độ Xây Dựng Giao Diện Lên 10 Lần</a:t>
            </a:r>
            <a:endParaRPr/>
          </a:p>
        </p:txBody>
      </p:sp>
      <p:sp>
        <p:nvSpPr>
          <p:cNvPr id="88" name="Google Shape;88;p13"/>
          <p:cNvSpPr txBox="1"/>
          <p:nvPr/>
        </p:nvSpPr>
        <p:spPr>
          <a:xfrm>
            <a:off x="581025" y="4818012"/>
            <a:ext cx="11029950" cy="2126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B185FF"/>
                </a:solidFill>
                <a:latin typeface="Space Grotesk"/>
                <a:ea typeface="Space Grotesk"/>
                <a:cs typeface="Space Grotesk"/>
                <a:sym typeface="Space Grotesk"/>
              </a:rPr>
              <a:t>TUẦN 4B - BÀI 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6381750" y="2763738"/>
            <a:ext cx="5229225" cy="561230"/>
          </a:xfrm>
          <a:prstGeom prst="rect">
            <a:avLst/>
          </a:prstGeom>
          <a:noFill/>
          <a:ln>
            <a:noFill/>
          </a:ln>
        </p:spPr>
      </p:pic>
      <p:pic>
        <p:nvPicPr>
          <p:cNvPr id="95" name="Google Shape;95;p14" descr="image.png"/>
          <p:cNvPicPr preferRelativeResize="0"/>
          <p:nvPr/>
        </p:nvPicPr>
        <p:blipFill rotWithShape="1">
          <a:blip r:embed="rId5">
            <a:alphaModFix/>
          </a:blip>
          <a:srcRect/>
          <a:stretch/>
        </p:blipFill>
        <p:spPr>
          <a:xfrm>
            <a:off x="581025" y="609600"/>
            <a:ext cx="311199" cy="400050"/>
          </a:xfrm>
          <a:prstGeom prst="rect">
            <a:avLst/>
          </a:prstGeom>
          <a:noFill/>
          <a:ln>
            <a:noFill/>
          </a:ln>
        </p:spPr>
      </p:pic>
      <p:sp>
        <p:nvSpPr>
          <p:cNvPr id="96" name="Google Shape;96;p14"/>
          <p:cNvSpPr txBox="1"/>
          <p:nvPr/>
        </p:nvSpPr>
        <p:spPr>
          <a:xfrm>
            <a:off x="581025" y="2596604"/>
            <a:ext cx="522922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F4444"/>
                </a:solidFill>
                <a:latin typeface="Urbanist"/>
                <a:ea typeface="Urbanist"/>
                <a:cs typeface="Urbanist"/>
                <a:sym typeface="Urbanist"/>
              </a:rPr>
              <a:t>Cách 1: Tự viết CSS Thuần</a:t>
            </a:r>
            <a:endParaRPr/>
          </a:p>
        </p:txBody>
      </p:sp>
      <p:sp>
        <p:nvSpPr>
          <p:cNvPr id="97" name="Google Shape;97;p14"/>
          <p:cNvSpPr txBox="1"/>
          <p:nvPr/>
        </p:nvSpPr>
        <p:spPr>
          <a:xfrm>
            <a:off x="581025" y="4621262"/>
            <a:ext cx="52292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1" u="none" strike="noStrike" cap="none">
                <a:solidFill>
                  <a:srgbClr val="CBD5E1"/>
                </a:solidFill>
                <a:latin typeface="Urbanist"/>
                <a:ea typeface="Urbanist"/>
                <a:cs typeface="Urbanist"/>
                <a:sym typeface="Urbanist"/>
              </a:rPr>
              <a:t> Giống như việc tự "trồng lúa" để làm bánh mì. </a:t>
            </a:r>
            <a:endParaRPr/>
          </a:p>
        </p:txBody>
      </p:sp>
      <p:sp>
        <p:nvSpPr>
          <p:cNvPr id="98" name="Google Shape;98;p14"/>
          <p:cNvSpPr txBox="1"/>
          <p:nvPr/>
        </p:nvSpPr>
        <p:spPr>
          <a:xfrm>
            <a:off x="6381750" y="2316063"/>
            <a:ext cx="522922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Urbanist"/>
                <a:ea typeface="Urbanist"/>
                <a:cs typeface="Urbanist"/>
                <a:sym typeface="Urbanist"/>
              </a:rPr>
              <a:t>Cách 2: Dùng Bootstrap</a:t>
            </a:r>
            <a:endParaRPr/>
          </a:p>
        </p:txBody>
      </p:sp>
      <p:sp>
        <p:nvSpPr>
          <p:cNvPr id="99" name="Google Shape;99;p14"/>
          <p:cNvSpPr txBox="1"/>
          <p:nvPr/>
        </p:nvSpPr>
        <p:spPr>
          <a:xfrm>
            <a:off x="6381750" y="4901951"/>
            <a:ext cx="52292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1" u="none" strike="noStrike" cap="none">
                <a:solidFill>
                  <a:srgbClr val="CBD5E1"/>
                </a:solidFill>
                <a:latin typeface="Urbanist"/>
                <a:ea typeface="Urbanist"/>
                <a:cs typeface="Urbanist"/>
                <a:sym typeface="Urbanist"/>
              </a:rPr>
              <a:t> Giống như việc vào "siêu thị" mua đồ có sẵn. </a:t>
            </a:r>
            <a:endParaRPr/>
          </a:p>
        </p:txBody>
      </p:sp>
      <p:pic>
        <p:nvPicPr>
          <p:cNvPr id="100" name="Google Shape;100;p14" descr="image.png"/>
          <p:cNvPicPr preferRelativeResize="0"/>
          <p:nvPr/>
        </p:nvPicPr>
        <p:blipFill rotWithShape="1">
          <a:blip r:embed="rId6">
            <a:alphaModFix/>
          </a:blip>
          <a:srcRect/>
          <a:stretch/>
        </p:blipFill>
        <p:spPr>
          <a:xfrm>
            <a:off x="581025" y="3091904"/>
            <a:ext cx="177849" cy="228600"/>
          </a:xfrm>
          <a:prstGeom prst="rect">
            <a:avLst/>
          </a:prstGeom>
          <a:noFill/>
          <a:ln>
            <a:noFill/>
          </a:ln>
        </p:spPr>
      </p:pic>
      <p:pic>
        <p:nvPicPr>
          <p:cNvPr id="101" name="Google Shape;101;p14" descr="image.png"/>
          <p:cNvPicPr preferRelativeResize="0"/>
          <p:nvPr/>
        </p:nvPicPr>
        <p:blipFill rotWithShape="1">
          <a:blip r:embed="rId7">
            <a:alphaModFix/>
          </a:blip>
          <a:srcRect/>
          <a:stretch/>
        </p:blipFill>
        <p:spPr>
          <a:xfrm>
            <a:off x="581025" y="3617565"/>
            <a:ext cx="177849" cy="228600"/>
          </a:xfrm>
          <a:prstGeom prst="rect">
            <a:avLst/>
          </a:prstGeom>
          <a:noFill/>
          <a:ln>
            <a:noFill/>
          </a:ln>
        </p:spPr>
      </p:pic>
      <p:pic>
        <p:nvPicPr>
          <p:cNvPr id="102" name="Google Shape;102;p14" descr="image.png"/>
          <p:cNvPicPr preferRelativeResize="0"/>
          <p:nvPr/>
        </p:nvPicPr>
        <p:blipFill rotWithShape="1">
          <a:blip r:embed="rId8">
            <a:alphaModFix/>
          </a:blip>
          <a:srcRect/>
          <a:stretch/>
        </p:blipFill>
        <p:spPr>
          <a:xfrm>
            <a:off x="581025" y="4143226"/>
            <a:ext cx="177849" cy="228600"/>
          </a:xfrm>
          <a:prstGeom prst="rect">
            <a:avLst/>
          </a:prstGeom>
          <a:noFill/>
          <a:ln>
            <a:noFill/>
          </a:ln>
        </p:spPr>
      </p:pic>
      <p:sp>
        <p:nvSpPr>
          <p:cNvPr id="103" name="Google Shape;103;p14"/>
          <p:cNvSpPr txBox="1"/>
          <p:nvPr/>
        </p:nvSpPr>
        <p:spPr>
          <a:xfrm>
            <a:off x="6534150" y="2916138"/>
            <a:ext cx="4924425" cy="2564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E2E8F0"/>
                </a:solidFill>
                <a:latin typeface="JetBrains Mono"/>
                <a:ea typeface="JetBrains Mono"/>
                <a:cs typeface="JetBrains Mono"/>
                <a:sym typeface="JetBrains Mono"/>
              </a:rPr>
              <a:t> </a:t>
            </a:r>
            <a:r>
              <a:rPr lang="en-US" sz="1200" b="0" i="0" u="none" strike="noStrike" cap="none">
                <a:solidFill>
                  <a:srgbClr val="38BDF8"/>
                </a:solidFill>
                <a:latin typeface="JetBrains Mono"/>
                <a:ea typeface="JetBrains Mono"/>
                <a:cs typeface="JetBrains Mono"/>
                <a:sym typeface="JetBrains Mono"/>
              </a:rPr>
              <a:t>class</a:t>
            </a:r>
            <a:r>
              <a:rPr lang="en-US" sz="1200" b="0" i="0" u="none" strike="noStrike" cap="none">
                <a:solidFill>
                  <a:srgbClr val="E2E8F0"/>
                </a:solidFill>
                <a:latin typeface="JetBrains Mono"/>
                <a:ea typeface="JetBrains Mono"/>
                <a:cs typeface="JetBrains Mono"/>
                <a:sym typeface="JetBrains Mono"/>
              </a:rPr>
              <a:t>=</a:t>
            </a:r>
            <a:r>
              <a:rPr lang="en-US" sz="1200" b="0" i="0" u="none" strike="noStrike" cap="none">
                <a:solidFill>
                  <a:srgbClr val="A7F3D0"/>
                </a:solidFill>
                <a:latin typeface="JetBrains Mono"/>
                <a:ea typeface="JetBrains Mono"/>
                <a:cs typeface="JetBrains Mono"/>
                <a:sym typeface="JetBrains Mono"/>
              </a:rPr>
              <a:t>"navbar navbar-expand-lg navbar-dark bg-dark"</a:t>
            </a:r>
            <a:r>
              <a:rPr lang="en-US" sz="1200" b="0" i="0" u="none" strike="noStrike" cap="none">
                <a:solidFill>
                  <a:srgbClr val="F472B6"/>
                </a:solidFill>
                <a:latin typeface="JetBrains Mono"/>
                <a:ea typeface="JetBrains Mono"/>
                <a:cs typeface="JetBrains Mono"/>
                <a:sym typeface="JetBrains Mono"/>
              </a:rPr>
              <a:t>&gt;</a:t>
            </a:r>
            <a:endParaRPr/>
          </a:p>
        </p:txBody>
      </p:sp>
      <p:pic>
        <p:nvPicPr>
          <p:cNvPr id="104" name="Google Shape;104;p14" descr="image.png"/>
          <p:cNvPicPr preferRelativeResize="0"/>
          <p:nvPr/>
        </p:nvPicPr>
        <p:blipFill rotWithShape="1">
          <a:blip r:embed="rId9">
            <a:alphaModFix/>
          </a:blip>
          <a:srcRect/>
          <a:stretch/>
        </p:blipFill>
        <p:spPr>
          <a:xfrm>
            <a:off x="6381750" y="3563094"/>
            <a:ext cx="177849" cy="228600"/>
          </a:xfrm>
          <a:prstGeom prst="rect">
            <a:avLst/>
          </a:prstGeom>
          <a:noFill/>
          <a:ln>
            <a:noFill/>
          </a:ln>
        </p:spPr>
      </p:pic>
      <p:pic>
        <p:nvPicPr>
          <p:cNvPr id="105" name="Google Shape;105;p14" descr="image.png"/>
          <p:cNvPicPr preferRelativeResize="0"/>
          <p:nvPr/>
        </p:nvPicPr>
        <p:blipFill rotWithShape="1">
          <a:blip r:embed="rId10">
            <a:alphaModFix/>
          </a:blip>
          <a:srcRect/>
          <a:stretch/>
        </p:blipFill>
        <p:spPr>
          <a:xfrm>
            <a:off x="6381750" y="4088755"/>
            <a:ext cx="177849" cy="228600"/>
          </a:xfrm>
          <a:prstGeom prst="rect">
            <a:avLst/>
          </a:prstGeom>
          <a:noFill/>
          <a:ln>
            <a:noFill/>
          </a:ln>
        </p:spPr>
      </p:pic>
      <p:sp>
        <p:nvSpPr>
          <p:cNvPr id="106" name="Google Shape;106;p14"/>
          <p:cNvSpPr txBox="1"/>
          <p:nvPr/>
        </p:nvSpPr>
        <p:spPr>
          <a:xfrm>
            <a:off x="1035099" y="581025"/>
            <a:ext cx="1057587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150" b="0" i="0" u="none" strike="noStrike" cap="none">
                <a:solidFill>
                  <a:srgbClr val="F8FAFC"/>
                </a:solidFill>
                <a:latin typeface="Space Grotesk"/>
                <a:ea typeface="Space Grotesk"/>
                <a:cs typeface="Space Grotesk"/>
                <a:sym typeface="Space Grotesk"/>
              </a:rPr>
              <a:t>TRỒNG LÚA VS ĐI SIÊU THỊ</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2" name="Google Shape;112;p15" descr="image.png"/>
          <p:cNvPicPr preferRelativeResize="0"/>
          <p:nvPr/>
        </p:nvPicPr>
        <p:blipFill rotWithShape="1">
          <a:blip r:embed="rId4">
            <a:alphaModFix/>
          </a:blip>
          <a:srcRect/>
          <a:stretch/>
        </p:blipFill>
        <p:spPr>
          <a:xfrm>
            <a:off x="581025" y="2147292"/>
            <a:ext cx="5229225" cy="4070151"/>
          </a:xfrm>
          <a:prstGeom prst="rect">
            <a:avLst/>
          </a:prstGeom>
          <a:noFill/>
          <a:ln>
            <a:noFill/>
          </a:ln>
        </p:spPr>
      </p:pic>
      <p:pic>
        <p:nvPicPr>
          <p:cNvPr id="113" name="Google Shape;113;p15" descr="image.png"/>
          <p:cNvPicPr preferRelativeResize="0"/>
          <p:nvPr/>
        </p:nvPicPr>
        <p:blipFill rotWithShape="1">
          <a:blip r:embed="rId5">
            <a:alphaModFix/>
          </a:blip>
          <a:srcRect/>
          <a:stretch/>
        </p:blipFill>
        <p:spPr>
          <a:xfrm>
            <a:off x="6381750" y="2147292"/>
            <a:ext cx="5229225" cy="4070151"/>
          </a:xfrm>
          <a:prstGeom prst="rect">
            <a:avLst/>
          </a:prstGeom>
          <a:noFill/>
          <a:ln>
            <a:noFill/>
          </a:ln>
        </p:spPr>
      </p:pic>
      <p:pic>
        <p:nvPicPr>
          <p:cNvPr id="114" name="Google Shape;114;p15" descr="image.png"/>
          <p:cNvPicPr preferRelativeResize="0"/>
          <p:nvPr/>
        </p:nvPicPr>
        <p:blipFill rotWithShape="1">
          <a:blip r:embed="rId6">
            <a:alphaModFix/>
          </a:blip>
          <a:srcRect/>
          <a:stretch/>
        </p:blipFill>
        <p:spPr>
          <a:xfrm>
            <a:off x="581025" y="633412"/>
            <a:ext cx="447675" cy="400050"/>
          </a:xfrm>
          <a:prstGeom prst="rect">
            <a:avLst/>
          </a:prstGeom>
          <a:noFill/>
          <a:ln>
            <a:noFill/>
          </a:ln>
        </p:spPr>
      </p:pic>
      <p:sp>
        <p:nvSpPr>
          <p:cNvPr id="115" name="Google Shape;115;p15"/>
          <p:cNvSpPr txBox="1"/>
          <p:nvPr/>
        </p:nvSpPr>
        <p:spPr>
          <a:xfrm>
            <a:off x="581025" y="1526381"/>
            <a:ext cx="1102995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Thay vì tự viết từng dòng CSS, Bootstrap cung cấp sẵn các class HTML chứa style đã được định nghĩa chuẩn mực.</a:t>
            </a:r>
            <a:endParaRPr/>
          </a:p>
        </p:txBody>
      </p:sp>
      <p:sp>
        <p:nvSpPr>
          <p:cNvPr id="116" name="Google Shape;116;p15"/>
          <p:cNvSpPr txBox="1"/>
          <p:nvPr/>
        </p:nvSpPr>
        <p:spPr>
          <a:xfrm>
            <a:off x="923925" y="2490192"/>
            <a:ext cx="454342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B185FF"/>
                </a:solidFill>
                <a:latin typeface="Urbanist"/>
                <a:ea typeface="Urbanist"/>
                <a:cs typeface="Urbanist"/>
                <a:sym typeface="Urbanist"/>
              </a:rPr>
              <a:t>1. CSS Framework</a:t>
            </a:r>
            <a:endParaRPr/>
          </a:p>
        </p:txBody>
      </p:sp>
      <p:pic>
        <p:nvPicPr>
          <p:cNvPr id="117" name="Google Shape;117;p15" descr="image.png"/>
          <p:cNvPicPr preferRelativeResize="0"/>
          <p:nvPr/>
        </p:nvPicPr>
        <p:blipFill rotWithShape="1">
          <a:blip r:embed="rId7">
            <a:alphaModFix/>
          </a:blip>
          <a:srcRect/>
          <a:stretch/>
        </p:blipFill>
        <p:spPr>
          <a:xfrm>
            <a:off x="1095375" y="2956917"/>
            <a:ext cx="4543425" cy="335160"/>
          </a:xfrm>
          <a:prstGeom prst="rect">
            <a:avLst/>
          </a:prstGeom>
          <a:noFill/>
          <a:ln>
            <a:noFill/>
          </a:ln>
        </p:spPr>
      </p:pic>
      <p:pic>
        <p:nvPicPr>
          <p:cNvPr id="118" name="Google Shape;118;p15" descr="image.png"/>
          <p:cNvPicPr preferRelativeResize="0"/>
          <p:nvPr/>
        </p:nvPicPr>
        <p:blipFill rotWithShape="1">
          <a:blip r:embed="rId8">
            <a:alphaModFix/>
          </a:blip>
          <a:srcRect/>
          <a:stretch/>
        </p:blipFill>
        <p:spPr>
          <a:xfrm>
            <a:off x="1095375" y="3482578"/>
            <a:ext cx="4543425" cy="670321"/>
          </a:xfrm>
          <a:prstGeom prst="rect">
            <a:avLst/>
          </a:prstGeom>
          <a:noFill/>
          <a:ln>
            <a:noFill/>
          </a:ln>
        </p:spPr>
      </p:pic>
      <p:pic>
        <p:nvPicPr>
          <p:cNvPr id="119" name="Google Shape;119;p15" descr="image.png"/>
          <p:cNvPicPr preferRelativeResize="0"/>
          <p:nvPr/>
        </p:nvPicPr>
        <p:blipFill rotWithShape="1">
          <a:blip r:embed="rId9">
            <a:alphaModFix/>
          </a:blip>
          <a:srcRect/>
          <a:stretch/>
        </p:blipFill>
        <p:spPr>
          <a:xfrm>
            <a:off x="1171575" y="4343400"/>
            <a:ext cx="4543425" cy="1104900"/>
          </a:xfrm>
          <a:prstGeom prst="rect">
            <a:avLst/>
          </a:prstGeom>
          <a:noFill/>
          <a:ln>
            <a:noFill/>
          </a:ln>
        </p:spPr>
      </p:pic>
      <p:sp>
        <p:nvSpPr>
          <p:cNvPr id="120" name="Google Shape;120;p15"/>
          <p:cNvSpPr txBox="1"/>
          <p:nvPr/>
        </p:nvSpPr>
        <p:spPr>
          <a:xfrm>
            <a:off x="6724650" y="2490192"/>
            <a:ext cx="454342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B185FF"/>
                </a:solidFill>
                <a:latin typeface="Urbanist"/>
                <a:ea typeface="Urbanist"/>
                <a:cs typeface="Urbanist"/>
                <a:sym typeface="Urbanist"/>
              </a:rPr>
              <a:t>2. JavaScript &amp; Sass</a:t>
            </a:r>
            <a:endParaRPr/>
          </a:p>
        </p:txBody>
      </p:sp>
      <p:pic>
        <p:nvPicPr>
          <p:cNvPr id="121" name="Google Shape;121;p15" descr="image.png"/>
          <p:cNvPicPr preferRelativeResize="0"/>
          <p:nvPr/>
        </p:nvPicPr>
        <p:blipFill rotWithShape="1">
          <a:blip r:embed="rId10">
            <a:alphaModFix/>
          </a:blip>
          <a:srcRect/>
          <a:stretch/>
        </p:blipFill>
        <p:spPr>
          <a:xfrm>
            <a:off x="6724650" y="2956917"/>
            <a:ext cx="4543425" cy="670321"/>
          </a:xfrm>
          <a:prstGeom prst="rect">
            <a:avLst/>
          </a:prstGeom>
          <a:noFill/>
          <a:ln>
            <a:noFill/>
          </a:ln>
        </p:spPr>
      </p:pic>
      <p:pic>
        <p:nvPicPr>
          <p:cNvPr id="122" name="Google Shape;122;p15" descr="image.png"/>
          <p:cNvPicPr preferRelativeResize="0"/>
          <p:nvPr/>
        </p:nvPicPr>
        <p:blipFill rotWithShape="1">
          <a:blip r:embed="rId11">
            <a:alphaModFix/>
          </a:blip>
          <a:srcRect/>
          <a:stretch/>
        </p:blipFill>
        <p:spPr>
          <a:xfrm>
            <a:off x="6724650" y="3817739"/>
            <a:ext cx="4543425" cy="1005482"/>
          </a:xfrm>
          <a:prstGeom prst="rect">
            <a:avLst/>
          </a:prstGeom>
          <a:noFill/>
          <a:ln>
            <a:noFill/>
          </a:ln>
        </p:spPr>
      </p:pic>
      <p:pic>
        <p:nvPicPr>
          <p:cNvPr id="123" name="Google Shape;123;p15" descr="image.png"/>
          <p:cNvPicPr preferRelativeResize="0"/>
          <p:nvPr/>
        </p:nvPicPr>
        <p:blipFill rotWithShape="1">
          <a:blip r:embed="rId12">
            <a:alphaModFix/>
          </a:blip>
          <a:srcRect/>
          <a:stretch/>
        </p:blipFill>
        <p:spPr>
          <a:xfrm>
            <a:off x="923925" y="3004542"/>
            <a:ext cx="228600" cy="228600"/>
          </a:xfrm>
          <a:prstGeom prst="rect">
            <a:avLst/>
          </a:prstGeom>
          <a:noFill/>
          <a:ln>
            <a:noFill/>
          </a:ln>
        </p:spPr>
      </p:pic>
      <p:pic>
        <p:nvPicPr>
          <p:cNvPr id="124" name="Google Shape;124;p15" descr="image.png"/>
          <p:cNvPicPr preferRelativeResize="0"/>
          <p:nvPr/>
        </p:nvPicPr>
        <p:blipFill rotWithShape="1">
          <a:blip r:embed="rId13">
            <a:alphaModFix/>
          </a:blip>
          <a:srcRect/>
          <a:stretch/>
        </p:blipFill>
        <p:spPr>
          <a:xfrm>
            <a:off x="923925" y="3530203"/>
            <a:ext cx="228600" cy="228600"/>
          </a:xfrm>
          <a:prstGeom prst="rect">
            <a:avLst/>
          </a:prstGeom>
          <a:noFill/>
          <a:ln>
            <a:noFill/>
          </a:ln>
        </p:spPr>
      </p:pic>
      <p:pic>
        <p:nvPicPr>
          <p:cNvPr id="125" name="Google Shape;125;p15" descr="image.png"/>
          <p:cNvPicPr preferRelativeResize="0"/>
          <p:nvPr/>
        </p:nvPicPr>
        <p:blipFill rotWithShape="1">
          <a:blip r:embed="rId14">
            <a:alphaModFix/>
          </a:blip>
          <a:srcRect/>
          <a:stretch/>
        </p:blipFill>
        <p:spPr>
          <a:xfrm>
            <a:off x="904875" y="4406502"/>
            <a:ext cx="228600" cy="228600"/>
          </a:xfrm>
          <a:prstGeom prst="rect">
            <a:avLst/>
          </a:prstGeom>
          <a:noFill/>
          <a:ln>
            <a:noFill/>
          </a:ln>
        </p:spPr>
      </p:pic>
      <p:pic>
        <p:nvPicPr>
          <p:cNvPr id="126" name="Google Shape;126;p15" descr="image.png"/>
          <p:cNvPicPr preferRelativeResize="0"/>
          <p:nvPr/>
        </p:nvPicPr>
        <p:blipFill rotWithShape="1">
          <a:blip r:embed="rId15">
            <a:alphaModFix/>
          </a:blip>
          <a:srcRect/>
          <a:stretch/>
        </p:blipFill>
        <p:spPr>
          <a:xfrm>
            <a:off x="6486525" y="3004542"/>
            <a:ext cx="200025" cy="228600"/>
          </a:xfrm>
          <a:prstGeom prst="rect">
            <a:avLst/>
          </a:prstGeom>
          <a:noFill/>
          <a:ln>
            <a:noFill/>
          </a:ln>
        </p:spPr>
      </p:pic>
      <p:pic>
        <p:nvPicPr>
          <p:cNvPr id="127" name="Google Shape;127;p15" descr="image.png"/>
          <p:cNvPicPr preferRelativeResize="0"/>
          <p:nvPr/>
        </p:nvPicPr>
        <p:blipFill rotWithShape="1">
          <a:blip r:embed="rId16">
            <a:alphaModFix/>
          </a:blip>
          <a:srcRect/>
          <a:stretch/>
        </p:blipFill>
        <p:spPr>
          <a:xfrm>
            <a:off x="6486525" y="3922513"/>
            <a:ext cx="285750" cy="228600"/>
          </a:xfrm>
          <a:prstGeom prst="rect">
            <a:avLst/>
          </a:prstGeom>
          <a:noFill/>
          <a:ln>
            <a:noFill/>
          </a:ln>
        </p:spPr>
      </p:pic>
      <p:sp>
        <p:nvSpPr>
          <p:cNvPr id="128" name="Google Shape;128;p15"/>
          <p:cNvSpPr txBox="1"/>
          <p:nvPr/>
        </p:nvSpPr>
        <p:spPr>
          <a:xfrm>
            <a:off x="1171575" y="581025"/>
            <a:ext cx="10439400" cy="5048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150" b="0" i="0" u="none" strike="noStrike" cap="none">
                <a:solidFill>
                  <a:srgbClr val="F8FAFC"/>
                </a:solidFill>
                <a:latin typeface="Space Grotesk"/>
                <a:ea typeface="Space Grotesk"/>
                <a:cs typeface="Space Grotesk"/>
                <a:sym typeface="Space Grotesk"/>
              </a:rPr>
              <a:t> BOOTSTRAP BAO GỒM GÌ?</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36"/>
        <p:cNvGrpSpPr/>
        <p:nvPr/>
      </p:nvGrpSpPr>
      <p:grpSpPr>
        <a:xfrm>
          <a:off x="0" y="0"/>
          <a:ext cx="0" cy="0"/>
          <a:chOff x="0" y="0"/>
          <a:chExt cx="0" cy="0"/>
        </a:xfrm>
      </p:grpSpPr>
      <p:pic>
        <p:nvPicPr>
          <p:cNvPr id="137" name="Google Shape;137;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8" name="Google Shape;138;p17" descr="image.png"/>
          <p:cNvPicPr preferRelativeResize="0"/>
          <p:nvPr/>
        </p:nvPicPr>
        <p:blipFill rotWithShape="1">
          <a:blip r:embed="rId4">
            <a:alphaModFix/>
          </a:blip>
          <a:srcRect/>
          <a:stretch/>
        </p:blipFill>
        <p:spPr>
          <a:xfrm>
            <a:off x="581025" y="2295525"/>
            <a:ext cx="11029950" cy="3105150"/>
          </a:xfrm>
          <a:prstGeom prst="rect">
            <a:avLst/>
          </a:prstGeom>
          <a:noFill/>
          <a:ln>
            <a:noFill/>
          </a:ln>
        </p:spPr>
      </p:pic>
      <p:pic>
        <p:nvPicPr>
          <p:cNvPr id="139" name="Google Shape;139;p17" descr="image.png"/>
          <p:cNvPicPr preferRelativeResize="0"/>
          <p:nvPr/>
        </p:nvPicPr>
        <p:blipFill rotWithShape="1">
          <a:blip r:embed="rId5">
            <a:alphaModFix/>
          </a:blip>
          <a:srcRect/>
          <a:stretch/>
        </p:blipFill>
        <p:spPr>
          <a:xfrm>
            <a:off x="590550" y="2305050"/>
            <a:ext cx="11010900" cy="609600"/>
          </a:xfrm>
          <a:prstGeom prst="rect">
            <a:avLst/>
          </a:prstGeom>
          <a:noFill/>
          <a:ln>
            <a:noFill/>
          </a:ln>
        </p:spPr>
      </p:pic>
      <p:pic>
        <p:nvPicPr>
          <p:cNvPr id="140" name="Google Shape;140;p17" descr="image.png"/>
          <p:cNvPicPr preferRelativeResize="0"/>
          <p:nvPr/>
        </p:nvPicPr>
        <p:blipFill rotWithShape="1">
          <a:blip r:embed="rId6">
            <a:alphaModFix/>
          </a:blip>
          <a:srcRect/>
          <a:stretch/>
        </p:blipFill>
        <p:spPr>
          <a:xfrm>
            <a:off x="581025" y="609600"/>
            <a:ext cx="311199" cy="400050"/>
          </a:xfrm>
          <a:prstGeom prst="rect">
            <a:avLst/>
          </a:prstGeom>
          <a:noFill/>
          <a:ln>
            <a:noFill/>
          </a:ln>
        </p:spPr>
      </p:pic>
      <p:sp>
        <p:nvSpPr>
          <p:cNvPr id="141" name="Google Shape;141;p17"/>
          <p:cNvSpPr txBox="1"/>
          <p:nvPr/>
        </p:nvSpPr>
        <p:spPr>
          <a:xfrm>
            <a:off x="781050" y="2495550"/>
            <a:ext cx="4337893" cy="2190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CBD5E1"/>
                </a:solidFill>
                <a:latin typeface="Urbanist"/>
                <a:ea typeface="Urbanist"/>
                <a:cs typeface="Urbanist"/>
                <a:sym typeface="Urbanist"/>
              </a:rPr>
              <a:t>Tình Huống Dự Án</a:t>
            </a:r>
            <a:endParaRPr/>
          </a:p>
        </p:txBody>
      </p:sp>
      <p:sp>
        <p:nvSpPr>
          <p:cNvPr id="142" name="Google Shape;142;p17"/>
          <p:cNvSpPr txBox="1"/>
          <p:nvPr/>
        </p:nvSpPr>
        <p:spPr>
          <a:xfrm>
            <a:off x="5499943" y="2495550"/>
            <a:ext cx="2764928" cy="2190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CBD5E1"/>
                </a:solidFill>
                <a:latin typeface="Urbanist"/>
                <a:ea typeface="Urbanist"/>
                <a:cs typeface="Urbanist"/>
                <a:sym typeface="Urbanist"/>
              </a:rPr>
              <a:t>Công Cụ Tối Ưu</a:t>
            </a:r>
            <a:endParaRPr/>
          </a:p>
        </p:txBody>
      </p:sp>
      <p:sp>
        <p:nvSpPr>
          <p:cNvPr id="143" name="Google Shape;143;p17"/>
          <p:cNvSpPr txBox="1"/>
          <p:nvPr/>
        </p:nvSpPr>
        <p:spPr>
          <a:xfrm>
            <a:off x="8645872" y="2495550"/>
            <a:ext cx="2764928" cy="2190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CBD5E1"/>
                </a:solidFill>
                <a:latin typeface="Urbanist"/>
                <a:ea typeface="Urbanist"/>
                <a:cs typeface="Urbanist"/>
                <a:sym typeface="Urbanist"/>
              </a:rPr>
              <a:t>Lý Do</a:t>
            </a:r>
            <a:endParaRPr/>
          </a:p>
        </p:txBody>
      </p:sp>
      <p:sp>
        <p:nvSpPr>
          <p:cNvPr id="144" name="Google Shape;144;p17"/>
          <p:cNvSpPr txBox="1"/>
          <p:nvPr/>
        </p:nvSpPr>
        <p:spPr>
          <a:xfrm>
            <a:off x="781050" y="3105150"/>
            <a:ext cx="4337893" cy="438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Admin Panel, Dashboard, MVP Prototype</a:t>
            </a:r>
            <a:endParaRPr/>
          </a:p>
        </p:txBody>
      </p:sp>
      <p:sp>
        <p:nvSpPr>
          <p:cNvPr id="145" name="Google Shape;145;p17"/>
          <p:cNvSpPr txBox="1"/>
          <p:nvPr/>
        </p:nvSpPr>
        <p:spPr>
          <a:xfrm>
            <a:off x="5499943" y="3105150"/>
            <a:ext cx="2764928" cy="438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B185FF"/>
                </a:solidFill>
                <a:latin typeface="Urbanist"/>
                <a:ea typeface="Urbanist"/>
                <a:cs typeface="Urbanist"/>
                <a:sym typeface="Urbanist"/>
              </a:rPr>
              <a:t>Bootstrap 5</a:t>
            </a:r>
            <a:endParaRPr/>
          </a:p>
        </p:txBody>
      </p:sp>
      <p:sp>
        <p:nvSpPr>
          <p:cNvPr id="146" name="Google Shape;146;p17"/>
          <p:cNvSpPr txBox="1"/>
          <p:nvPr/>
        </p:nvSpPr>
        <p:spPr>
          <a:xfrm>
            <a:off x="8645872" y="3105150"/>
            <a:ext cx="2764928" cy="438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Có sẵn component, ít code nhất, tốc độ cao.</a:t>
            </a:r>
            <a:endParaRPr/>
          </a:p>
        </p:txBody>
      </p:sp>
      <p:sp>
        <p:nvSpPr>
          <p:cNvPr id="147" name="Google Shape;147;p17"/>
          <p:cNvSpPr txBox="1"/>
          <p:nvPr/>
        </p:nvSpPr>
        <p:spPr>
          <a:xfrm>
            <a:off x="781050" y="3933825"/>
            <a:ext cx="4337893" cy="438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Design System độc đáo theo chuẩn Brand</a:t>
            </a:r>
            <a:endParaRPr/>
          </a:p>
        </p:txBody>
      </p:sp>
      <p:sp>
        <p:nvSpPr>
          <p:cNvPr id="148" name="Google Shape;148;p17"/>
          <p:cNvSpPr txBox="1"/>
          <p:nvPr/>
        </p:nvSpPr>
        <p:spPr>
          <a:xfrm>
            <a:off x="5499943" y="3933825"/>
            <a:ext cx="2764928" cy="438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CSS Thuần + SCSS</a:t>
            </a:r>
            <a:endParaRPr/>
          </a:p>
        </p:txBody>
      </p:sp>
      <p:sp>
        <p:nvSpPr>
          <p:cNvPr id="149" name="Google Shape;149;p17"/>
          <p:cNvSpPr txBox="1"/>
          <p:nvPr/>
        </p:nvSpPr>
        <p:spPr>
          <a:xfrm>
            <a:off x="8645872" y="3933825"/>
            <a:ext cx="2764928" cy="438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Bootstrap override rất phức tạp nếu design quá khác biệt.</a:t>
            </a:r>
            <a:endParaRPr/>
          </a:p>
        </p:txBody>
      </p:sp>
      <p:sp>
        <p:nvSpPr>
          <p:cNvPr id="150" name="Google Shape;150;p17"/>
          <p:cNvSpPr txBox="1"/>
          <p:nvPr/>
        </p:nvSpPr>
        <p:spPr>
          <a:xfrm>
            <a:off x="781050" y="4762500"/>
            <a:ext cx="4337893" cy="438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Cần kiểm soát cao (Utility-first)</a:t>
            </a:r>
            <a:endParaRPr/>
          </a:p>
        </p:txBody>
      </p:sp>
      <p:sp>
        <p:nvSpPr>
          <p:cNvPr id="151" name="Google Shape;151;p17"/>
          <p:cNvSpPr txBox="1"/>
          <p:nvPr/>
        </p:nvSpPr>
        <p:spPr>
          <a:xfrm>
            <a:off x="5499943" y="4762500"/>
            <a:ext cx="2764928" cy="438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38BDF8"/>
                </a:solidFill>
                <a:latin typeface="Urbanist"/>
                <a:ea typeface="Urbanist"/>
                <a:cs typeface="Urbanist"/>
                <a:sym typeface="Urbanist"/>
              </a:rPr>
              <a:t>TailwindCSS</a:t>
            </a:r>
            <a:endParaRPr/>
          </a:p>
        </p:txBody>
      </p:sp>
      <p:sp>
        <p:nvSpPr>
          <p:cNvPr id="152" name="Google Shape;152;p17"/>
          <p:cNvSpPr txBox="1"/>
          <p:nvPr/>
        </p:nvSpPr>
        <p:spPr>
          <a:xfrm>
            <a:off x="8645872" y="4762500"/>
            <a:ext cx="2764928" cy="438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Dùng atomic class, không gò bó style mặc định.</a:t>
            </a:r>
            <a:endParaRPr/>
          </a:p>
        </p:txBody>
      </p:sp>
      <p:sp>
        <p:nvSpPr>
          <p:cNvPr id="153" name="Google Shape;153;p17"/>
          <p:cNvSpPr txBox="1"/>
          <p:nvPr/>
        </p:nvSpPr>
        <p:spPr>
          <a:xfrm>
            <a:off x="1035099" y="581025"/>
            <a:ext cx="1057587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150" b="0" i="0" u="none" strike="noStrike" cap="none">
                <a:solidFill>
                  <a:srgbClr val="F8FAFC"/>
                </a:solidFill>
                <a:latin typeface="Space Grotesk"/>
                <a:ea typeface="Space Grotesk"/>
                <a:cs typeface="Space Grotesk"/>
                <a:sym typeface="Space Grotesk"/>
              </a:rPr>
              <a:t>KHI NÀO NÊN DÙNG GÌ?</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57"/>
        <p:cNvGrpSpPr/>
        <p:nvPr/>
      </p:nvGrpSpPr>
      <p:grpSpPr>
        <a:xfrm>
          <a:off x="0" y="0"/>
          <a:ext cx="0" cy="0"/>
          <a:chOff x="0" y="0"/>
          <a:chExt cx="0" cy="0"/>
        </a:xfrm>
      </p:grpSpPr>
      <p:pic>
        <p:nvPicPr>
          <p:cNvPr id="158" name="Google Shape;158;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9" name="Google Shape;159;p18" descr="image.png"/>
          <p:cNvPicPr preferRelativeResize="0"/>
          <p:nvPr/>
        </p:nvPicPr>
        <p:blipFill rotWithShape="1">
          <a:blip r:embed="rId4">
            <a:alphaModFix/>
          </a:blip>
          <a:srcRect/>
          <a:stretch/>
        </p:blipFill>
        <p:spPr>
          <a:xfrm>
            <a:off x="581025" y="1419225"/>
            <a:ext cx="5229225" cy="2921793"/>
          </a:xfrm>
          <a:prstGeom prst="rect">
            <a:avLst/>
          </a:prstGeom>
          <a:noFill/>
          <a:ln>
            <a:noFill/>
          </a:ln>
        </p:spPr>
      </p:pic>
      <p:pic>
        <p:nvPicPr>
          <p:cNvPr id="160" name="Google Shape;160;p18" descr="image.png"/>
          <p:cNvPicPr preferRelativeResize="0"/>
          <p:nvPr/>
        </p:nvPicPr>
        <p:blipFill rotWithShape="1">
          <a:blip r:embed="rId4">
            <a:alphaModFix/>
          </a:blip>
          <a:srcRect/>
          <a:stretch/>
        </p:blipFill>
        <p:spPr>
          <a:xfrm>
            <a:off x="6381750" y="1419225"/>
            <a:ext cx="5229225" cy="2921793"/>
          </a:xfrm>
          <a:prstGeom prst="rect">
            <a:avLst/>
          </a:prstGeom>
          <a:noFill/>
          <a:ln>
            <a:noFill/>
          </a:ln>
        </p:spPr>
      </p:pic>
      <p:pic>
        <p:nvPicPr>
          <p:cNvPr id="161" name="Google Shape;161;p18" descr="image.png"/>
          <p:cNvPicPr preferRelativeResize="0"/>
          <p:nvPr/>
        </p:nvPicPr>
        <p:blipFill rotWithShape="1">
          <a:blip r:embed="rId5">
            <a:alphaModFix/>
          </a:blip>
          <a:srcRect/>
          <a:stretch/>
        </p:blipFill>
        <p:spPr>
          <a:xfrm>
            <a:off x="581025" y="4912518"/>
            <a:ext cx="5229225" cy="2616993"/>
          </a:xfrm>
          <a:prstGeom prst="rect">
            <a:avLst/>
          </a:prstGeom>
          <a:noFill/>
          <a:ln>
            <a:noFill/>
          </a:ln>
        </p:spPr>
      </p:pic>
      <p:pic>
        <p:nvPicPr>
          <p:cNvPr id="162" name="Google Shape;162;p18" descr="image.png"/>
          <p:cNvPicPr preferRelativeResize="0"/>
          <p:nvPr/>
        </p:nvPicPr>
        <p:blipFill rotWithShape="1">
          <a:blip r:embed="rId5">
            <a:alphaModFix/>
          </a:blip>
          <a:srcRect/>
          <a:stretch/>
        </p:blipFill>
        <p:spPr>
          <a:xfrm>
            <a:off x="6381750" y="4912518"/>
            <a:ext cx="5229225" cy="2616993"/>
          </a:xfrm>
          <a:prstGeom prst="rect">
            <a:avLst/>
          </a:prstGeom>
          <a:noFill/>
          <a:ln>
            <a:noFill/>
          </a:ln>
        </p:spPr>
      </p:pic>
      <p:pic>
        <p:nvPicPr>
          <p:cNvPr id="163" name="Google Shape;163;p18" descr="image.png"/>
          <p:cNvPicPr preferRelativeResize="0"/>
          <p:nvPr/>
        </p:nvPicPr>
        <p:blipFill rotWithShape="1">
          <a:blip r:embed="rId6">
            <a:alphaModFix/>
          </a:blip>
          <a:srcRect/>
          <a:stretch/>
        </p:blipFill>
        <p:spPr>
          <a:xfrm>
            <a:off x="581025" y="609600"/>
            <a:ext cx="311199" cy="400050"/>
          </a:xfrm>
          <a:prstGeom prst="rect">
            <a:avLst/>
          </a:prstGeom>
          <a:noFill/>
          <a:ln>
            <a:noFill/>
          </a:ln>
        </p:spPr>
      </p:pic>
      <p:sp>
        <p:nvSpPr>
          <p:cNvPr id="164" name="Google Shape;164;p18"/>
          <p:cNvSpPr txBox="1"/>
          <p:nvPr/>
        </p:nvSpPr>
        <p:spPr>
          <a:xfrm>
            <a:off x="923925" y="1762125"/>
            <a:ext cx="4543425"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F4444"/>
                </a:solidFill>
                <a:latin typeface="Urbanist"/>
                <a:ea typeface="Urbanist"/>
                <a:cs typeface="Urbanist"/>
                <a:sym typeface="Urbanist"/>
              </a:rPr>
              <a:t>"Dùng Bootstrap thì khỏi cần biết CSS"</a:t>
            </a:r>
            <a:endParaRPr/>
          </a:p>
        </p:txBody>
      </p:sp>
      <p:sp>
        <p:nvSpPr>
          <p:cNvPr id="165" name="Google Shape;165;p18"/>
          <p:cNvSpPr txBox="1"/>
          <p:nvPr/>
        </p:nvSpPr>
        <p:spPr>
          <a:xfrm>
            <a:off x="923925" y="2514600"/>
            <a:ext cx="4543425" cy="13406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Sai hoàn toàn! Khi thiết kế lệch khỏi chuẩn Bootstrap, hoặc khi xảy ra bug UI, bạn BẮT BUỘC phải dùng kiến thức CSS thuần để override và debug.</a:t>
            </a:r>
            <a:endParaRPr/>
          </a:p>
        </p:txBody>
      </p:sp>
      <p:sp>
        <p:nvSpPr>
          <p:cNvPr id="166" name="Google Shape;166;p18"/>
          <p:cNvSpPr txBox="1"/>
          <p:nvPr/>
        </p:nvSpPr>
        <p:spPr>
          <a:xfrm>
            <a:off x="6724650" y="1762125"/>
            <a:ext cx="454342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F4444"/>
                </a:solidFill>
                <a:latin typeface="Urbanist"/>
                <a:ea typeface="Urbanist"/>
                <a:cs typeface="Urbanist"/>
                <a:sym typeface="Urbanist"/>
              </a:rPr>
              <a:t>"Bootstrap 4 giống Bootstrap 5"</a:t>
            </a:r>
            <a:endParaRPr/>
          </a:p>
        </p:txBody>
      </p:sp>
      <p:sp>
        <p:nvSpPr>
          <p:cNvPr id="167" name="Google Shape;167;p18"/>
          <p:cNvSpPr txBox="1"/>
          <p:nvPr/>
        </p:nvSpPr>
        <p:spPr>
          <a:xfrm>
            <a:off x="6724650" y="2209800"/>
            <a:ext cx="4543425" cy="10245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Khác biệt rất lớn: Bootstrap 5 loại bỏ hoàn toàn dependency jQuery, thay đổi class RTL (từ ml- sang ms-), thêm tiện ích mới.</a:t>
            </a:r>
            <a:endParaRPr/>
          </a:p>
        </p:txBody>
      </p:sp>
      <p:sp>
        <p:nvSpPr>
          <p:cNvPr id="168" name="Google Shape;168;p18"/>
          <p:cNvSpPr txBox="1"/>
          <p:nvPr/>
        </p:nvSpPr>
        <p:spPr>
          <a:xfrm>
            <a:off x="923925" y="5255418"/>
            <a:ext cx="454342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F4444"/>
                </a:solidFill>
                <a:latin typeface="Urbanist"/>
                <a:ea typeface="Urbanist"/>
                <a:cs typeface="Urbanist"/>
                <a:sym typeface="Urbanist"/>
              </a:rPr>
              <a:t>"CDN luôn chậm hơn tải file Local"</a:t>
            </a:r>
            <a:endParaRPr/>
          </a:p>
        </p:txBody>
      </p:sp>
      <p:sp>
        <p:nvSpPr>
          <p:cNvPr id="169" name="Google Shape;169;p18"/>
          <p:cNvSpPr txBox="1"/>
          <p:nvPr/>
        </p:nvSpPr>
        <p:spPr>
          <a:xfrm>
            <a:off x="923925" y="5703093"/>
            <a:ext cx="4543425" cy="115490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Trái lại, CDN thường nhanh hơn vì file có thể đã được lưu trong cache trình duyệt của user từ một trang web khác, và server CDN đặt gần user hơn.</a:t>
            </a:r>
            <a:endParaRPr/>
          </a:p>
        </p:txBody>
      </p:sp>
      <p:sp>
        <p:nvSpPr>
          <p:cNvPr id="170" name="Google Shape;170;p18"/>
          <p:cNvSpPr txBox="1"/>
          <p:nvPr/>
        </p:nvSpPr>
        <p:spPr>
          <a:xfrm>
            <a:off x="6724650" y="5255418"/>
            <a:ext cx="454342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F4444"/>
                </a:solidFill>
                <a:latin typeface="Urbanist"/>
                <a:ea typeface="Urbanist"/>
                <a:cs typeface="Urbanist"/>
                <a:sym typeface="Urbanist"/>
              </a:rPr>
              <a:t>"Bootstrap làm web bị chậm"</a:t>
            </a:r>
            <a:endParaRPr/>
          </a:p>
        </p:txBody>
      </p:sp>
      <p:sp>
        <p:nvSpPr>
          <p:cNvPr id="171" name="Google Shape;171;p18"/>
          <p:cNvSpPr txBox="1"/>
          <p:nvPr/>
        </p:nvSpPr>
        <p:spPr>
          <a:xfrm>
            <a:off x="6724650" y="5703093"/>
            <a:ext cx="4543425" cy="115490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File CSS của nó chỉ khoảng ~30KB (sau gzip), không ảnh hưởng quá lớn tới performance. Dùng bản npm có thể thực hiện tree-shaking để thu nhỏ dung lượng.</a:t>
            </a:r>
            <a:endParaRPr/>
          </a:p>
        </p:txBody>
      </p:sp>
      <p:sp>
        <p:nvSpPr>
          <p:cNvPr id="172" name="Google Shape;172;p18"/>
          <p:cNvSpPr txBox="1"/>
          <p:nvPr/>
        </p:nvSpPr>
        <p:spPr>
          <a:xfrm>
            <a:off x="1035099" y="581025"/>
            <a:ext cx="1057587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150" b="0" i="0" u="none" strike="noStrike" cap="none">
                <a:solidFill>
                  <a:srgbClr val="F8FAFC"/>
                </a:solidFill>
                <a:latin typeface="Space Grotesk"/>
                <a:ea typeface="Space Grotesk"/>
                <a:cs typeface="Space Grotesk"/>
                <a:sym typeface="Space Grotesk"/>
              </a:rPr>
              <a:t>HIỂU LẦM PHỔ BIẾN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76"/>
        <p:cNvGrpSpPr/>
        <p:nvPr/>
      </p:nvGrpSpPr>
      <p:grpSpPr>
        <a:xfrm>
          <a:off x="0" y="0"/>
          <a:ext cx="0" cy="0"/>
          <a:chOff x="0" y="0"/>
          <a:chExt cx="0" cy="0"/>
        </a:xfrm>
      </p:grpSpPr>
      <p:pic>
        <p:nvPicPr>
          <p:cNvPr id="177" name="Google Shape;177;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8" name="Google Shape;178;p19" descr="image.png"/>
          <p:cNvPicPr preferRelativeResize="0"/>
          <p:nvPr/>
        </p:nvPicPr>
        <p:blipFill rotWithShape="1">
          <a:blip r:embed="rId4">
            <a:alphaModFix/>
          </a:blip>
          <a:srcRect/>
          <a:stretch/>
        </p:blipFill>
        <p:spPr>
          <a:xfrm>
            <a:off x="581025" y="581025"/>
            <a:ext cx="11029950" cy="971550"/>
          </a:xfrm>
          <a:prstGeom prst="rect">
            <a:avLst/>
          </a:prstGeom>
          <a:noFill/>
          <a:ln>
            <a:noFill/>
          </a:ln>
        </p:spPr>
      </p:pic>
      <p:pic>
        <p:nvPicPr>
          <p:cNvPr id="179" name="Google Shape;179;p19" descr="image.png"/>
          <p:cNvPicPr preferRelativeResize="0"/>
          <p:nvPr/>
        </p:nvPicPr>
        <p:blipFill rotWithShape="1">
          <a:blip r:embed="rId5">
            <a:alphaModFix/>
          </a:blip>
          <a:srcRect/>
          <a:stretch/>
        </p:blipFill>
        <p:spPr>
          <a:xfrm>
            <a:off x="581025" y="5420915"/>
            <a:ext cx="11029950" cy="1152525"/>
          </a:xfrm>
          <a:prstGeom prst="rect">
            <a:avLst/>
          </a:prstGeom>
          <a:noFill/>
          <a:ln>
            <a:noFill/>
          </a:ln>
        </p:spPr>
      </p:pic>
      <p:sp>
        <p:nvSpPr>
          <p:cNvPr id="180" name="Google Shape;180;p19"/>
          <p:cNvSpPr txBox="1"/>
          <p:nvPr/>
        </p:nvSpPr>
        <p:spPr>
          <a:xfrm>
            <a:off x="2286000" y="1838325"/>
            <a:ext cx="76200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1. </a:t>
            </a:r>
            <a:r>
              <a:rPr lang="en-US" sz="1650" b="1" i="0" u="none" strike="noStrike" cap="none">
                <a:solidFill>
                  <a:srgbClr val="CBD5E1"/>
                </a:solidFill>
                <a:latin typeface="Urbanist"/>
                <a:ea typeface="Urbanist"/>
                <a:cs typeface="Urbanist"/>
                <a:sym typeface="Urbanist"/>
              </a:rPr>
              <a:t>Bootstrap</a:t>
            </a:r>
            <a:r>
              <a:rPr lang="en-US" sz="1650" b="0" i="0" u="none" strike="noStrike" cap="none">
                <a:solidFill>
                  <a:srgbClr val="CBD5E1"/>
                </a:solidFill>
                <a:latin typeface="Urbanist"/>
                <a:ea typeface="Urbanist"/>
                <a:cs typeface="Urbanist"/>
                <a:sym typeface="Urbanist"/>
              </a:rPr>
              <a:t> là CSS framework giúp style có sẵn bằng HTML Class.</a:t>
            </a:r>
            <a:endParaRPr/>
          </a:p>
        </p:txBody>
      </p:sp>
      <p:sp>
        <p:nvSpPr>
          <p:cNvPr id="181" name="Google Shape;181;p19"/>
          <p:cNvSpPr txBox="1"/>
          <p:nvPr/>
        </p:nvSpPr>
        <p:spPr>
          <a:xfrm>
            <a:off x="2286000" y="2459235"/>
            <a:ext cx="76200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2. </a:t>
            </a:r>
            <a:r>
              <a:rPr lang="en-US" sz="1650" b="1" i="0" u="none" strike="noStrike" cap="none">
                <a:solidFill>
                  <a:srgbClr val="CBD5E1"/>
                </a:solidFill>
                <a:latin typeface="Urbanist"/>
                <a:ea typeface="Urbanist"/>
                <a:cs typeface="Urbanist"/>
                <a:sym typeface="Urbanist"/>
              </a:rPr>
              <a:t>Thẻ Viewport Meta</a:t>
            </a:r>
            <a:r>
              <a:rPr lang="en-US" sz="1650" b="0" i="0" u="none" strike="noStrike" cap="none">
                <a:solidFill>
                  <a:srgbClr val="CBD5E1"/>
                </a:solidFill>
                <a:latin typeface="Urbanist"/>
                <a:ea typeface="Urbanist"/>
                <a:cs typeface="Urbanist"/>
                <a:sym typeface="Urbanist"/>
              </a:rPr>
              <a:t> là bắt buộc để Responsive hoạt động.</a:t>
            </a:r>
            <a:endParaRPr/>
          </a:p>
        </p:txBody>
      </p:sp>
      <p:sp>
        <p:nvSpPr>
          <p:cNvPr id="182" name="Google Shape;182;p19"/>
          <p:cNvSpPr txBox="1"/>
          <p:nvPr/>
        </p:nvSpPr>
        <p:spPr>
          <a:xfrm>
            <a:off x="2286000" y="3080146"/>
            <a:ext cx="76200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3. </a:t>
            </a:r>
            <a:r>
              <a:rPr lang="en-US" sz="1650" b="1" i="0" u="none" strike="noStrike" cap="none">
                <a:solidFill>
                  <a:srgbClr val="CBD5E1"/>
                </a:solidFill>
                <a:latin typeface="Urbanist"/>
                <a:ea typeface="Urbanist"/>
                <a:cs typeface="Urbanist"/>
                <a:sym typeface="Urbanist"/>
              </a:rPr>
              <a:t>Bootstrap JS</a:t>
            </a:r>
            <a:r>
              <a:rPr lang="en-US" sz="1650" b="0" i="0" u="none" strike="noStrike" cap="none">
                <a:solidFill>
                  <a:srgbClr val="CBD5E1"/>
                </a:solidFill>
                <a:latin typeface="Urbanist"/>
                <a:ea typeface="Urbanist"/>
                <a:cs typeface="Urbanist"/>
                <a:sym typeface="Urbanist"/>
              </a:rPr>
              <a:t> bắt buộc phải có cho các components interactive (Menu hamburger, dropdown, modal).</a:t>
            </a:r>
            <a:endParaRPr/>
          </a:p>
        </p:txBody>
      </p:sp>
      <p:sp>
        <p:nvSpPr>
          <p:cNvPr id="183" name="Google Shape;183;p19"/>
          <p:cNvSpPr txBox="1"/>
          <p:nvPr/>
        </p:nvSpPr>
        <p:spPr>
          <a:xfrm>
            <a:off x="2286000" y="4036218"/>
            <a:ext cx="76200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4. Học Bootstrap </a:t>
            </a:r>
            <a:r>
              <a:rPr lang="en-US" sz="1650" b="1" i="0" u="none" strike="noStrike" cap="none">
                <a:solidFill>
                  <a:srgbClr val="CBD5E1"/>
                </a:solidFill>
                <a:latin typeface="Urbanist"/>
                <a:ea typeface="Urbanist"/>
                <a:cs typeface="Urbanist"/>
                <a:sym typeface="Urbanist"/>
              </a:rPr>
              <a:t>không thay thế CSS thuần</a:t>
            </a:r>
            <a:r>
              <a:rPr lang="en-US" sz="1650" b="0" i="0" u="none" strike="noStrike" cap="none">
                <a:solidFill>
                  <a:srgbClr val="CBD5E1"/>
                </a:solidFill>
                <a:latin typeface="Urbanist"/>
                <a:ea typeface="Urbanist"/>
                <a:cs typeface="Urbanist"/>
                <a:sym typeface="Urbanist"/>
              </a:rPr>
              <a:t>. Nắm CSS thuần mới có thể tùy biến và gỡ lỗi.</a:t>
            </a:r>
            <a:endParaRPr/>
          </a:p>
        </p:txBody>
      </p:sp>
      <p:sp>
        <p:nvSpPr>
          <p:cNvPr id="184" name="Google Shape;184;p19"/>
          <p:cNvSpPr txBox="1"/>
          <p:nvPr/>
        </p:nvSpPr>
        <p:spPr>
          <a:xfrm>
            <a:off x="581025" y="5811440"/>
            <a:ext cx="11029950"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CBD5E1"/>
                </a:solidFill>
                <a:latin typeface="Urbanist"/>
                <a:ea typeface="Urbanist"/>
                <a:cs typeface="Urbanist"/>
                <a:sym typeface="Urbanist"/>
              </a:rPr>
              <a:t>BÀI TIẾP THEO:</a:t>
            </a:r>
            <a:endParaRPr/>
          </a:p>
        </p:txBody>
      </p:sp>
      <p:sp>
        <p:nvSpPr>
          <p:cNvPr id="185" name="Google Shape;185;p19"/>
          <p:cNvSpPr txBox="1"/>
          <p:nvPr/>
        </p:nvSpPr>
        <p:spPr>
          <a:xfrm>
            <a:off x="581025" y="6135290"/>
            <a:ext cx="11029950" cy="4381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700" b="0" i="0" u="none" strike="noStrike" cap="none">
                <a:solidFill>
                  <a:srgbClr val="F8FAFC"/>
                </a:solidFill>
                <a:latin typeface="Space Grotesk"/>
                <a:ea typeface="Space Grotesk"/>
                <a:cs typeface="Space Grotesk"/>
                <a:sym typeface="Space Grotesk"/>
              </a:rPr>
              <a:t>GRID SYSTEM — HỆ THỐNG LAYOUT 12 CỘT</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435</Words>
  <Application>Microsoft Office PowerPoint</Application>
  <PresentationFormat>Widescreen</PresentationFormat>
  <Paragraphs>41</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JetBrains Mono</vt:lpstr>
      <vt:lpstr>Urbanist</vt:lpstr>
      <vt:lpstr>Arial</vt:lpstr>
      <vt:lpstr>Space Grotesk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 Chi Hieu</cp:lastModifiedBy>
  <cp:revision>1</cp:revision>
  <dcterms:modified xsi:type="dcterms:W3CDTF">2026-05-11T06:09:16Z</dcterms:modified>
</cp:coreProperties>
</file>